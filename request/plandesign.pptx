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1675"/>
  <p:notesSz cx="6858000" cy="9144000"/>
  <p:embeddedFontLst>
    <p:embeddedFont>
      <p:font typeface="Quattrocento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QuattrocentoSans-bold.fntdata"/><Relationship Id="rId16" Type="http://schemas.openxmlformats.org/officeDocument/2006/relationships/font" Target="fonts/QuattrocentoSans-regular.fntdata"/><Relationship Id="rId5" Type="http://schemas.openxmlformats.org/officeDocument/2006/relationships/notesMaster" Target="notesMasters/notesMaster1.xml"/><Relationship Id="rId19" Type="http://schemas.openxmlformats.org/officeDocument/2006/relationships/font" Target="fonts/QuattrocentoSans-boldItalic.fntdata"/><Relationship Id="rId6" Type="http://schemas.openxmlformats.org/officeDocument/2006/relationships/slide" Target="slides/slide1.xml"/><Relationship Id="rId18" Type="http://schemas.openxmlformats.org/officeDocument/2006/relationships/font" Target="fonts/QuattrocentoSa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C2E"/>
        </a:solidFill>
      </p:bgPr>
    </p:bg>
    <p:spTree>
      <p:nvGrpSpPr>
        <p:cNvPr id="83" name="Shape 83"/>
        <p:cNvGrpSpPr/>
        <p:nvPr/>
      </p:nvGrpSpPr>
      <p:grpSpPr>
        <a:xfrm>
          <a:off x="0" y="0"/>
          <a:ext cx="0" cy="0"/>
          <a:chOff x="0" y="0"/>
          <a:chExt cx="0" cy="0"/>
        </a:xfrm>
      </p:grpSpPr>
      <p:sp>
        <p:nvSpPr>
          <p:cNvPr id="84" name="Google Shape;84;p13"/>
          <p:cNvSpPr/>
          <p:nvPr/>
        </p:nvSpPr>
        <p:spPr>
          <a:xfrm>
            <a:off x="731520" y="1828800"/>
            <a:ext cx="137160" cy="3200400"/>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5" name="Google Shape;85;p13"/>
          <p:cNvSpPr txBox="1"/>
          <p:nvPr/>
        </p:nvSpPr>
        <p:spPr>
          <a:xfrm>
            <a:off x="1097280" y="1645920"/>
            <a:ext cx="10058400" cy="3657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none" cap="none" strike="noStrike">
                <a:solidFill>
                  <a:srgbClr val="FFFFFF"/>
                </a:solidFill>
                <a:latin typeface="Quattrocento Sans"/>
                <a:ea typeface="Quattrocento Sans"/>
                <a:cs typeface="Quattrocento Sans"/>
                <a:sym typeface="Quattrocento Sans"/>
              </a:rPr>
              <a:t>AI社員システム構築プロジェクト キックオフ</a:t>
            </a:r>
            <a:endParaRPr/>
          </a:p>
          <a:p>
            <a:pPr indent="0" lvl="0" marL="0" marR="0" rtl="0" algn="l">
              <a:spcBef>
                <a:spcPts val="1600"/>
              </a:spcBef>
              <a:spcAft>
                <a:spcPts val="0"/>
              </a:spcAft>
              <a:buNone/>
            </a:pPr>
            <a:r>
              <a:rPr b="0" i="0" lang="en-US" sz="1800" u="none" cap="none" strike="noStrike">
                <a:solidFill>
                  <a:srgbClr val="0096A6"/>
                </a:solidFill>
                <a:latin typeface="Quattrocento Sans"/>
                <a:ea typeface="Quattrocento Sans"/>
                <a:cs typeface="Quattrocento Sans"/>
                <a:sym typeface="Quattrocento Sans"/>
              </a:rPr>
              <a:t>組織・職務セッションを備えた永続的AI社員管理プラットフォームの構築とマスタースケジュール</a:t>
            </a:r>
            <a:endParaRPr/>
          </a:p>
          <a:p>
            <a:pPr indent="0" lvl="0" marL="0" marR="0" rtl="0" algn="l">
              <a:spcBef>
                <a:spcPts val="4800"/>
              </a:spcBef>
              <a:spcAft>
                <a:spcPts val="0"/>
              </a:spcAft>
              <a:buNone/>
            </a:pPr>
            <a:r>
              <a:rPr b="0" i="0" lang="en-US" sz="1200" u="none" cap="none" strike="noStrike">
                <a:solidFill>
                  <a:srgbClr val="AAB9C8"/>
                </a:solidFill>
                <a:latin typeface="Quattrocento Sans"/>
                <a:ea typeface="Quattrocento Sans"/>
                <a:cs typeface="Quattrocento Sans"/>
                <a:sym typeface="Quattrocento Sans"/>
              </a:rPr>
              <a:t>日付: 2026-10-06   |   バージョン: Ver 1.0   |   技術仕様: CLI &amp; MCPベースのエンタープライズシステム</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89" name="Shape 89"/>
        <p:cNvGrpSpPr/>
        <p:nvPr/>
      </p:nvGrpSpPr>
      <p:grpSpPr>
        <a:xfrm>
          <a:off x="0" y="0"/>
          <a:ext cx="0" cy="0"/>
          <a:chOff x="0" y="0"/>
          <a:chExt cx="0" cy="0"/>
        </a:xfrm>
      </p:grpSpPr>
      <p:sp>
        <p:nvSpPr>
          <p:cNvPr id="90" name="Google Shape;90;p14"/>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91" name="Google Shape;91;p14"/>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プロジェクト概要とビジョン</a:t>
            </a:r>
            <a:endParaRPr/>
          </a:p>
        </p:txBody>
      </p:sp>
      <p:sp>
        <p:nvSpPr>
          <p:cNvPr id="92" name="Google Shape;92;p14"/>
          <p:cNvSpPr/>
          <p:nvPr/>
        </p:nvSpPr>
        <p:spPr>
          <a:xfrm>
            <a:off x="7315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3" name="Google Shape;93;p14"/>
          <p:cNvSpPr/>
          <p:nvPr/>
        </p:nvSpPr>
        <p:spPr>
          <a:xfrm>
            <a:off x="7315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4" name="Google Shape;94;p14"/>
          <p:cNvSpPr txBox="1"/>
          <p:nvPr/>
        </p:nvSpPr>
        <p:spPr>
          <a:xfrm>
            <a:off x="9601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現状の課題 (Existing Issues)</a:t>
            </a:r>
            <a:endParaRPr/>
          </a:p>
        </p:txBody>
      </p:sp>
      <p:sp>
        <p:nvSpPr>
          <p:cNvPr id="95" name="Google Shape;95;p14"/>
          <p:cNvSpPr txBox="1"/>
          <p:nvPr/>
        </p:nvSpPr>
        <p:spPr>
          <a:xfrm>
            <a:off x="9601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一時的なチャットボットの限界:</a:t>
            </a:r>
            <a:r>
              <a:rPr b="0" i="0" lang="en-US" sz="1300" u="none" cap="none" strike="noStrike">
                <a:solidFill>
                  <a:srgbClr val="323C46"/>
                </a:solidFill>
                <a:latin typeface="Quattrocento Sans"/>
                <a:ea typeface="Quattrocento Sans"/>
                <a:cs typeface="Quattrocento Sans"/>
                <a:sym typeface="Quattrocento Sans"/>
              </a:rPr>
              <a:t> セッション終了時に文脈(Context)が消失する</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タスク追跡の欠如:</a:t>
            </a:r>
            <a:r>
              <a:rPr b="0" i="0" lang="en-US" sz="1300" u="none" cap="none" strike="noStrike">
                <a:solidFill>
                  <a:srgbClr val="323C46"/>
                </a:solidFill>
                <a:latin typeface="Quattrocento Sans"/>
                <a:ea typeface="Quattrocento Sans"/>
                <a:cs typeface="Quattrocento Sans"/>
                <a:sym typeface="Quattrocento Sans"/>
              </a:rPr>
              <a:t> 割り当てられた業務の実行履歴や状態を追跡できない</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二重実行リスク:</a:t>
            </a:r>
            <a:r>
              <a:rPr b="0" i="0" lang="en-US" sz="1300" u="none" cap="none" strike="noStrike">
                <a:solidFill>
                  <a:srgbClr val="323C46"/>
                </a:solidFill>
                <a:latin typeface="Quattrocento Sans"/>
                <a:ea typeface="Quattrocento Sans"/>
                <a:cs typeface="Quattrocento Sans"/>
                <a:sym typeface="Quattrocento Sans"/>
              </a:rPr>
              <a:t> APIタイムアウトや切断時にタスクが不完全に再実行される危険性</a:t>
            </a:r>
            <a:endParaRPr/>
          </a:p>
        </p:txBody>
      </p:sp>
      <p:sp>
        <p:nvSpPr>
          <p:cNvPr id="96" name="Google Shape;96;p14"/>
          <p:cNvSpPr/>
          <p:nvPr/>
        </p:nvSpPr>
        <p:spPr>
          <a:xfrm>
            <a:off x="43891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p:nvPr/>
        </p:nvSpPr>
        <p:spPr>
          <a:xfrm>
            <a:off x="43891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8" name="Google Shape;98;p14"/>
          <p:cNvSpPr txBox="1"/>
          <p:nvPr/>
        </p:nvSpPr>
        <p:spPr>
          <a:xfrm>
            <a:off x="46177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本システムのコア価値 (Core Value)</a:t>
            </a:r>
            <a:endParaRPr/>
          </a:p>
        </p:txBody>
      </p:sp>
      <p:sp>
        <p:nvSpPr>
          <p:cNvPr id="99" name="Google Shape;99;p14"/>
          <p:cNvSpPr txBox="1"/>
          <p:nvPr/>
        </p:nvSpPr>
        <p:spPr>
          <a:xfrm>
            <a:off x="46177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組織図に基づくアプローチ:</a:t>
            </a:r>
            <a:r>
              <a:rPr b="0" i="0" lang="en-US" sz="1300" u="none" cap="none" strike="noStrike">
                <a:solidFill>
                  <a:srgbClr val="323C46"/>
                </a:solidFill>
                <a:latin typeface="Quattrocento Sans"/>
                <a:ea typeface="Quattrocento Sans"/>
                <a:cs typeface="Quattrocento Sans"/>
                <a:sym typeface="Quattrocento Sans"/>
              </a:rPr>
              <a:t> 階層構造に応じた職務の付与および直属の上司AIの指定</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DB正本状態管理:</a:t>
            </a:r>
            <a:r>
              <a:rPr b="0" i="0" lang="en-US" sz="1300" u="none" cap="none" strike="noStrike">
                <a:solidFill>
                  <a:srgbClr val="323C46"/>
                </a:solidFill>
                <a:latin typeface="Quattrocento Sans"/>
                <a:ea typeface="Quattrocento Sans"/>
                <a:cs typeface="Quattrocento Sans"/>
                <a:sym typeface="Quattrocento Sans"/>
              </a:rPr>
              <a:t> すべてのタスク、チェックポイント、成果物をDBで厳格に追跡</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Codexセッション識別:</a:t>
            </a:r>
            <a:r>
              <a:rPr b="0" i="0" lang="en-US" sz="1300" u="none" cap="none" strike="noStrike">
                <a:solidFill>
                  <a:srgbClr val="323C46"/>
                </a:solidFill>
                <a:latin typeface="Quattrocento Sans"/>
                <a:ea typeface="Quattrocento Sans"/>
                <a:cs typeface="Quattrocento Sans"/>
                <a:sym typeface="Quattrocento Sans"/>
              </a:rPr>
              <a:t> セッション識別子により持続的な連続対話を保証</a:t>
            </a:r>
            <a:endParaRPr/>
          </a:p>
        </p:txBody>
      </p:sp>
      <p:sp>
        <p:nvSpPr>
          <p:cNvPr id="100" name="Google Shape;100;p14"/>
          <p:cNvSpPr/>
          <p:nvPr/>
        </p:nvSpPr>
        <p:spPr>
          <a:xfrm>
            <a:off x="80467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1" name="Google Shape;101;p14"/>
          <p:cNvSpPr/>
          <p:nvPr/>
        </p:nvSpPr>
        <p:spPr>
          <a:xfrm>
            <a:off x="80467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2" name="Google Shape;102;p14"/>
          <p:cNvSpPr txBox="1"/>
          <p:nvPr/>
        </p:nvSpPr>
        <p:spPr>
          <a:xfrm>
            <a:off x="82753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期待される効果 (Expected Benefits)</a:t>
            </a:r>
            <a:endParaRPr/>
          </a:p>
        </p:txBody>
      </p:sp>
      <p:sp>
        <p:nvSpPr>
          <p:cNvPr id="103" name="Google Shape;103;p14"/>
          <p:cNvSpPr txBox="1"/>
          <p:nvPr/>
        </p:nvSpPr>
        <p:spPr>
          <a:xfrm>
            <a:off x="82753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生産性の向上:</a:t>
            </a:r>
            <a:r>
              <a:rPr b="0" i="0" lang="en-US" sz="1300" u="none" cap="none" strike="noStrike">
                <a:solidFill>
                  <a:srgbClr val="323C46"/>
                </a:solidFill>
                <a:latin typeface="Quattrocento Sans"/>
                <a:ea typeface="Quattrocento Sans"/>
                <a:cs typeface="Quattrocento Sans"/>
                <a:sym typeface="Quattrocento Sans"/>
              </a:rPr>
              <a:t> 調査・開発・検定の自動委任プロセスにより、開発生産性を約3倍に向上</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高い完了率:</a:t>
            </a:r>
            <a:r>
              <a:rPr b="0" i="0" lang="en-US" sz="1300" u="none" cap="none" strike="noStrike">
                <a:solidFill>
                  <a:srgbClr val="323C46"/>
                </a:solidFill>
                <a:latin typeface="Quattrocento Sans"/>
                <a:ea typeface="Quattrocento Sans"/>
                <a:cs typeface="Quattrocento Sans"/>
                <a:sym typeface="Quattrocento Sans"/>
              </a:rPr>
              <a:t> クールダウンを伴う自動復旧(Resume)により、長期タスクの完了率99%を達成</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07" name="Shape 107"/>
        <p:cNvGrpSpPr/>
        <p:nvPr/>
      </p:nvGrpSpPr>
      <p:grpSpPr>
        <a:xfrm>
          <a:off x="0" y="0"/>
          <a:ext cx="0" cy="0"/>
          <a:chOff x="0" y="0"/>
          <a:chExt cx="0" cy="0"/>
        </a:xfrm>
      </p:grpSpPr>
      <p:sp>
        <p:nvSpPr>
          <p:cNvPr id="108" name="Google Shape;108;p15"/>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109" name="Google Shape;109;p15"/>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システムアーキテクチャとパイプライン</a:t>
            </a:r>
            <a:endParaRPr/>
          </a:p>
        </p:txBody>
      </p:sp>
      <p:sp>
        <p:nvSpPr>
          <p:cNvPr id="110" name="Google Shape;110;p15"/>
          <p:cNvSpPr/>
          <p:nvPr/>
        </p:nvSpPr>
        <p:spPr>
          <a:xfrm>
            <a:off x="731520" y="1645920"/>
            <a:ext cx="5120640" cy="987552"/>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5"/>
          <p:cNvSpPr/>
          <p:nvPr/>
        </p:nvSpPr>
        <p:spPr>
          <a:xfrm>
            <a:off x="731520" y="1645920"/>
            <a:ext cx="73152" cy="9875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2" name="Google Shape;112;p15"/>
          <p:cNvSpPr txBox="1"/>
          <p:nvPr/>
        </p:nvSpPr>
        <p:spPr>
          <a:xfrm>
            <a:off x="914400" y="1737360"/>
            <a:ext cx="4846320" cy="8046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1. Presentation Layer (Web UI)</a:t>
            </a:r>
            <a:endParaRPr/>
          </a:p>
          <a:p>
            <a:pPr indent="0" lvl="0" marL="0" marR="0" rtl="0" algn="l">
              <a:spcBef>
                <a:spcPts val="200"/>
              </a:spcBef>
              <a:spcAft>
                <a:spcPts val="0"/>
              </a:spcAft>
              <a:buNone/>
            </a:pPr>
            <a:r>
              <a:rPr b="0" i="0" lang="en-US" sz="1100" u="none" cap="none" strike="noStrike">
                <a:solidFill>
                  <a:srgbClr val="323C46"/>
                </a:solidFill>
                <a:latin typeface="Quattrocento Sans"/>
                <a:ea typeface="Quattrocento Sans"/>
                <a:cs typeface="Quattrocento Sans"/>
                <a:sym typeface="Quattrocento Sans"/>
              </a:rPr>
              <a:t>React + TypeScript, SB Admin 2ベース(Non-Bootstrap)の管理コンソール。</a:t>
            </a:r>
            <a:endParaRPr/>
          </a:p>
        </p:txBody>
      </p:sp>
      <p:sp>
        <p:nvSpPr>
          <p:cNvPr id="113" name="Google Shape;113;p15"/>
          <p:cNvSpPr/>
          <p:nvPr/>
        </p:nvSpPr>
        <p:spPr>
          <a:xfrm>
            <a:off x="731520" y="2743200"/>
            <a:ext cx="5120640" cy="987552"/>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731520" y="2743200"/>
            <a:ext cx="73152" cy="9875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15"/>
          <p:cNvSpPr txBox="1"/>
          <p:nvPr/>
        </p:nvSpPr>
        <p:spPr>
          <a:xfrm>
            <a:off x="914400" y="2834640"/>
            <a:ext cx="4846320" cy="8046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2. Interface Layer (System MCP)</a:t>
            </a:r>
            <a:endParaRPr/>
          </a:p>
          <a:p>
            <a:pPr indent="0" lvl="0" marL="0" marR="0" rtl="0" algn="l">
              <a:spcBef>
                <a:spcPts val="200"/>
              </a:spcBef>
              <a:spcAft>
                <a:spcPts val="0"/>
              </a:spcAft>
              <a:buNone/>
            </a:pPr>
            <a:r>
              <a:rPr b="0" i="0" lang="en-US" sz="1100" u="none" cap="none" strike="noStrike">
                <a:solidFill>
                  <a:srgbClr val="323C46"/>
                </a:solidFill>
                <a:latin typeface="Quattrocento Sans"/>
                <a:ea typeface="Quattrocento Sans"/>
                <a:cs typeface="Quattrocento Sans"/>
                <a:sym typeface="Quattrocento Sans"/>
              </a:rPr>
              <a:t>冪等性(Idempotency Key)を担保した管理AIと作業AI間の非同期タスク委任インターフェース。</a:t>
            </a:r>
            <a:endParaRPr/>
          </a:p>
        </p:txBody>
      </p:sp>
      <p:sp>
        <p:nvSpPr>
          <p:cNvPr id="116" name="Google Shape;116;p15"/>
          <p:cNvSpPr/>
          <p:nvPr/>
        </p:nvSpPr>
        <p:spPr>
          <a:xfrm>
            <a:off x="731520" y="3840480"/>
            <a:ext cx="5120640" cy="987552"/>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7" name="Google Shape;117;p15"/>
          <p:cNvSpPr/>
          <p:nvPr/>
        </p:nvSpPr>
        <p:spPr>
          <a:xfrm>
            <a:off x="731520" y="3840480"/>
            <a:ext cx="73152" cy="9875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8" name="Google Shape;118;p15"/>
          <p:cNvSpPr txBox="1"/>
          <p:nvPr/>
        </p:nvSpPr>
        <p:spPr>
          <a:xfrm>
            <a:off x="914400" y="3931920"/>
            <a:ext cx="4846320" cy="8046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3. Engine Layer (Scheduler &amp; Runner)</a:t>
            </a:r>
            <a:endParaRPr/>
          </a:p>
          <a:p>
            <a:pPr indent="0" lvl="0" marL="0" marR="0" rtl="0" algn="l">
              <a:spcBef>
                <a:spcPts val="200"/>
              </a:spcBef>
              <a:spcAft>
                <a:spcPts val="0"/>
              </a:spcAft>
              <a:buNone/>
            </a:pPr>
            <a:r>
              <a:rPr b="0" i="0" lang="en-US" sz="1100" u="none" cap="none" strike="noStrike">
                <a:solidFill>
                  <a:srgbClr val="323C46"/>
                </a:solidFill>
                <a:latin typeface="Quattrocento Sans"/>
                <a:ea typeface="Quattrocento Sans"/>
                <a:cs typeface="Quattrocento Sans"/>
                <a:sym typeface="Quattrocento Sans"/>
              </a:rPr>
              <a:t>Node.js spawn() を利用したバックグラウンドCLIプロセスのライフサイクル管理。</a:t>
            </a:r>
            <a:endParaRPr/>
          </a:p>
        </p:txBody>
      </p:sp>
      <p:sp>
        <p:nvSpPr>
          <p:cNvPr id="119" name="Google Shape;119;p15"/>
          <p:cNvSpPr/>
          <p:nvPr/>
        </p:nvSpPr>
        <p:spPr>
          <a:xfrm>
            <a:off x="731520" y="4937760"/>
            <a:ext cx="5120640" cy="987552"/>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0" name="Google Shape;120;p15"/>
          <p:cNvSpPr/>
          <p:nvPr/>
        </p:nvSpPr>
        <p:spPr>
          <a:xfrm>
            <a:off x="731520" y="4937760"/>
            <a:ext cx="73152" cy="9875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1" name="Google Shape;121;p15"/>
          <p:cNvSpPr txBox="1"/>
          <p:nvPr/>
        </p:nvSpPr>
        <p:spPr>
          <a:xfrm>
            <a:off x="914400" y="5029200"/>
            <a:ext cx="4846320" cy="804672"/>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4. Persistence Layer (DB)</a:t>
            </a:r>
            <a:endParaRPr/>
          </a:p>
          <a:p>
            <a:pPr indent="0" lvl="0" marL="0" marR="0" rtl="0" algn="l">
              <a:spcBef>
                <a:spcPts val="200"/>
              </a:spcBef>
              <a:spcAft>
                <a:spcPts val="0"/>
              </a:spcAft>
              <a:buNone/>
            </a:pPr>
            <a:r>
              <a:rPr b="0" i="0" lang="en-US" sz="1100" u="none" cap="none" strike="noStrike">
                <a:solidFill>
                  <a:srgbClr val="323C46"/>
                </a:solidFill>
                <a:latin typeface="Quattrocento Sans"/>
                <a:ea typeface="Quattrocento Sans"/>
                <a:cs typeface="Quattrocento Sans"/>
                <a:sym typeface="Quattrocento Sans"/>
              </a:rPr>
              <a:t>SQLiteによるタスク、チェックポイント、監査ログ、セッション情報の完全保存。</a:t>
            </a:r>
            <a:endParaRPr/>
          </a:p>
        </p:txBody>
      </p:sp>
      <p:sp>
        <p:nvSpPr>
          <p:cNvPr id="122" name="Google Shape;122;p15"/>
          <p:cNvSpPr/>
          <p:nvPr/>
        </p:nvSpPr>
        <p:spPr>
          <a:xfrm>
            <a:off x="6217920" y="1645920"/>
            <a:ext cx="521208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3" name="Google Shape;123;p15"/>
          <p:cNvSpPr/>
          <p:nvPr/>
        </p:nvSpPr>
        <p:spPr>
          <a:xfrm>
            <a:off x="6217920" y="1645920"/>
            <a:ext cx="521208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5"/>
          <p:cNvSpPr txBox="1"/>
          <p:nvPr/>
        </p:nvSpPr>
        <p:spPr>
          <a:xfrm>
            <a:off x="6446520" y="1828800"/>
            <a:ext cx="475488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エンドツーエンド(E2E)実行フロー</a:t>
            </a:r>
            <a:endParaRPr/>
          </a:p>
        </p:txBody>
      </p:sp>
      <p:sp>
        <p:nvSpPr>
          <p:cNvPr id="125" name="Google Shape;125;p15"/>
          <p:cNvSpPr txBox="1"/>
          <p:nvPr/>
        </p:nvSpPr>
        <p:spPr>
          <a:xfrm>
            <a:off x="6446520" y="2331720"/>
            <a:ext cx="475488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1. トリガー検知:</a:t>
            </a:r>
            <a:r>
              <a:rPr b="0" i="0" lang="en-US" sz="1300" u="none" cap="none" strike="noStrike">
                <a:solidFill>
                  <a:srgbClr val="323C46"/>
                </a:solidFill>
                <a:latin typeface="Quattrocento Sans"/>
                <a:ea typeface="Quattrocento Sans"/>
                <a:cs typeface="Quattrocento Sans"/>
                <a:sym typeface="Quattrocento Sans"/>
              </a:rPr>
              <a:t> Cronまたは管理画面からの起動シグナルを受信</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2. DBスナップショット取得:</a:t>
            </a:r>
            <a:r>
              <a:rPr b="0" i="0" lang="en-US" sz="1300" u="none" cap="none" strike="noStrike">
                <a:solidFill>
                  <a:srgbClr val="323C46"/>
                </a:solidFill>
                <a:latin typeface="Quattrocento Sans"/>
                <a:ea typeface="Quattrocento Sans"/>
                <a:cs typeface="Quattrocento Sans"/>
                <a:sym typeface="Quattrocento Sans"/>
              </a:rPr>
              <a:t> 実行前の状態を厳格に保存</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3. 計画立案:</a:t>
            </a:r>
            <a:r>
              <a:rPr b="0" i="0" lang="en-US" sz="1300" u="none" cap="none" strike="noStrike">
                <a:solidFill>
                  <a:srgbClr val="323C46"/>
                </a:solidFill>
                <a:latin typeface="Quattrocento Sans"/>
                <a:ea typeface="Quattrocento Sans"/>
                <a:cs typeface="Quattrocento Sans"/>
                <a:sym typeface="Quattrocento Sans"/>
              </a:rPr>
              <a:t> 管理AIによるタスクのブレイクダウンと割り当て</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4. 非同期実行:</a:t>
            </a:r>
            <a:r>
              <a:rPr b="0" i="0" lang="en-US" sz="1300" u="none" cap="none" strike="noStrike">
                <a:solidFill>
                  <a:srgbClr val="323C46"/>
                </a:solidFill>
                <a:latin typeface="Quattrocento Sans"/>
                <a:ea typeface="Quattrocento Sans"/>
                <a:cs typeface="Quattrocento Sans"/>
                <a:sym typeface="Quattrocento Sans"/>
              </a:rPr>
              <a:t> 子プロセス(Runner)の立ち上げと実行監視</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5. 成果物検証:</a:t>
            </a:r>
            <a:r>
              <a:rPr b="0" i="0" lang="en-US" sz="1300" u="none" cap="none" strike="noStrike">
                <a:solidFill>
                  <a:srgbClr val="323C46"/>
                </a:solidFill>
                <a:latin typeface="Quattrocento Sans"/>
                <a:ea typeface="Quattrocento Sans"/>
                <a:cs typeface="Quattrocento Sans"/>
                <a:sym typeface="Quattrocento Sans"/>
              </a:rPr>
              <a:t> 実行結果の検証とDBへのコミット処理</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6. 報告:</a:t>
            </a:r>
            <a:r>
              <a:rPr b="0" i="0" lang="en-US" sz="1300" u="none" cap="none" strike="noStrike">
                <a:solidFill>
                  <a:srgbClr val="323C46"/>
                </a:solidFill>
                <a:latin typeface="Quattrocento Sans"/>
                <a:ea typeface="Quattrocento Sans"/>
                <a:cs typeface="Quattrocento Sans"/>
                <a:sym typeface="Quattrocento Sans"/>
              </a:rPr>
              <a:t> 管理AIへの最終ステータス報告とセッション更新</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29" name="Shape 129"/>
        <p:cNvGrpSpPr/>
        <p:nvPr/>
      </p:nvGrpSpPr>
      <p:grpSpPr>
        <a:xfrm>
          <a:off x="0" y="0"/>
          <a:ext cx="0" cy="0"/>
          <a:chOff x="0" y="0"/>
          <a:chExt cx="0" cy="0"/>
        </a:xfrm>
      </p:grpSpPr>
      <p:sp>
        <p:nvSpPr>
          <p:cNvPr id="130" name="Google Shape;130;p16"/>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131" name="Google Shape;131;p16"/>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要件定義マトリクス (FR-01 ~ FR-12)</a:t>
            </a:r>
            <a:endParaRPr/>
          </a:p>
        </p:txBody>
      </p:sp>
      <p:sp>
        <p:nvSpPr>
          <p:cNvPr id="132" name="Google Shape;132;p16"/>
          <p:cNvSpPr/>
          <p:nvPr/>
        </p:nvSpPr>
        <p:spPr>
          <a:xfrm>
            <a:off x="731520" y="1645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6"/>
          <p:cNvSpPr/>
          <p:nvPr/>
        </p:nvSpPr>
        <p:spPr>
          <a:xfrm>
            <a:off x="731520" y="1645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4" name="Google Shape;134;p16"/>
          <p:cNvSpPr txBox="1"/>
          <p:nvPr/>
        </p:nvSpPr>
        <p:spPr>
          <a:xfrm>
            <a:off x="960120" y="1828800"/>
            <a:ext cx="4663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自動化・</a:t>
            </a:r>
            <a:r>
              <a:rPr b="1" lang="en-US" sz="1500">
                <a:solidFill>
                  <a:srgbClr val="0F1C2E"/>
                </a:solidFill>
                <a:latin typeface="Quattrocento Sans"/>
                <a:ea typeface="Quattrocento Sans"/>
                <a:cs typeface="Quattrocento Sans"/>
                <a:sym typeface="Quattrocento Sans"/>
              </a:rPr>
              <a:t>非同期</a:t>
            </a:r>
            <a:r>
              <a:rPr b="1" i="0" lang="en-US" sz="1500" u="none" cap="none" strike="noStrike">
                <a:solidFill>
                  <a:srgbClr val="0F1C2E"/>
                </a:solidFill>
                <a:latin typeface="Quattrocento Sans"/>
                <a:ea typeface="Quattrocento Sans"/>
                <a:cs typeface="Quattrocento Sans"/>
                <a:sym typeface="Quattrocento Sans"/>
              </a:rPr>
              <a:t> (Automation &amp; Async)</a:t>
            </a:r>
            <a:endParaRPr/>
          </a:p>
        </p:txBody>
      </p:sp>
      <p:sp>
        <p:nvSpPr>
          <p:cNvPr id="135" name="Google Shape;135;p16"/>
          <p:cNvSpPr txBox="1"/>
          <p:nvPr/>
        </p:nvSpPr>
        <p:spPr>
          <a:xfrm>
            <a:off x="960120" y="2331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FR-01:</a:t>
            </a:r>
            <a:r>
              <a:rPr b="0" i="0" lang="en-US" sz="1100" u="none" cap="none" strike="noStrike">
                <a:solidFill>
                  <a:srgbClr val="323C46"/>
                </a:solidFill>
                <a:latin typeface="Quattrocento Sans"/>
                <a:ea typeface="Quattrocento Sans"/>
                <a:cs typeface="Quattrocento Sans"/>
                <a:sym typeface="Quattrocento Sans"/>
              </a:rPr>
              <a:t> Asia/Tokyo基準の定時Cron実行、重複防止制御</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FR-06:</a:t>
            </a:r>
            <a:r>
              <a:rPr b="0" i="0" lang="en-US" sz="1100" u="none" cap="none" strike="noStrike">
                <a:solidFill>
                  <a:srgbClr val="323C46"/>
                </a:solidFill>
                <a:latin typeface="Quattrocento Sans"/>
                <a:ea typeface="Quattrocento Sans"/>
                <a:cs typeface="Quattrocento Sans"/>
                <a:sym typeface="Quattrocento Sans"/>
              </a:rPr>
              <a:t> child_process.spawn()によるCLI独立実行プロセスの確立</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FR-07:</a:t>
            </a:r>
            <a:r>
              <a:rPr b="0" i="0" lang="en-US" sz="1100" u="none" cap="none" strike="noStrike">
                <a:solidFill>
                  <a:srgbClr val="323C46"/>
                </a:solidFill>
                <a:latin typeface="Quattrocento Sans"/>
                <a:ea typeface="Quattrocento Sans"/>
                <a:cs typeface="Quattrocento Sans"/>
                <a:sym typeface="Quattrocento Sans"/>
              </a:rPr>
              <a:t> トークン強制終了時などの60秒待機後自動再開(Resume)</a:t>
            </a:r>
            <a:endParaRPr/>
          </a:p>
        </p:txBody>
      </p:sp>
      <p:sp>
        <p:nvSpPr>
          <p:cNvPr id="136" name="Google Shape;136;p16"/>
          <p:cNvSpPr/>
          <p:nvPr/>
        </p:nvSpPr>
        <p:spPr>
          <a:xfrm>
            <a:off x="6217920" y="1645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7" name="Google Shape;137;p16"/>
          <p:cNvSpPr/>
          <p:nvPr/>
        </p:nvSpPr>
        <p:spPr>
          <a:xfrm>
            <a:off x="6217920" y="1645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8" name="Google Shape;138;p16"/>
          <p:cNvSpPr txBox="1"/>
          <p:nvPr/>
        </p:nvSpPr>
        <p:spPr>
          <a:xfrm>
            <a:off x="6446520" y="1828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組織・職務 (Organization &amp; Role)</a:t>
            </a:r>
            <a:endParaRPr/>
          </a:p>
        </p:txBody>
      </p:sp>
      <p:sp>
        <p:nvSpPr>
          <p:cNvPr id="139" name="Google Shape;139;p16"/>
          <p:cNvSpPr txBox="1"/>
          <p:nvPr/>
        </p:nvSpPr>
        <p:spPr>
          <a:xfrm>
            <a:off x="6446520" y="2331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FR-02:</a:t>
            </a:r>
            <a:r>
              <a:rPr b="0" i="0" lang="en-US" sz="1100" u="none" cap="none" strike="noStrike">
                <a:solidFill>
                  <a:srgbClr val="323C46"/>
                </a:solidFill>
                <a:latin typeface="Quattrocento Sans"/>
                <a:ea typeface="Quattrocento Sans"/>
                <a:cs typeface="Quattrocento Sans"/>
                <a:sym typeface="Quattrocento Sans"/>
              </a:rPr>
              <a:t> バージョン管理されたスキルカタログによる認可外ツール実行の遮断</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FR-08:</a:t>
            </a:r>
            <a:r>
              <a:rPr b="0" i="0" lang="en-US" sz="1100" u="none" cap="none" strike="noStrike">
                <a:solidFill>
                  <a:srgbClr val="323C46"/>
                </a:solidFill>
                <a:latin typeface="Quattrocento Sans"/>
                <a:ea typeface="Quattrocento Sans"/>
                <a:cs typeface="Quattrocento Sans"/>
                <a:sym typeface="Quattrocento Sans"/>
              </a:rPr>
              <a:t> 組織図管理および異動時タスク引継ぎ(Handoff)の強制</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FR-09:</a:t>
            </a:r>
            <a:r>
              <a:rPr b="0" i="0" lang="en-US" sz="1100" u="none" cap="none" strike="noStrike">
                <a:solidFill>
                  <a:srgbClr val="323C46"/>
                </a:solidFill>
                <a:latin typeface="Quattrocento Sans"/>
                <a:ea typeface="Quattrocento Sans"/>
                <a:cs typeface="Quattrocento Sans"/>
                <a:sym typeface="Quattrocento Sans"/>
              </a:rPr>
              <a:t> 人間とAI間の独立した1on1面談セッションおよび承認後のタスク化</a:t>
            </a:r>
            <a:endParaRPr/>
          </a:p>
        </p:txBody>
      </p:sp>
      <p:sp>
        <p:nvSpPr>
          <p:cNvPr id="140" name="Google Shape;140;p16"/>
          <p:cNvSpPr/>
          <p:nvPr/>
        </p:nvSpPr>
        <p:spPr>
          <a:xfrm>
            <a:off x="731520" y="3931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1" name="Google Shape;141;p16"/>
          <p:cNvSpPr/>
          <p:nvPr/>
        </p:nvSpPr>
        <p:spPr>
          <a:xfrm>
            <a:off x="731520" y="3931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2" name="Google Shape;142;p16"/>
          <p:cNvSpPr txBox="1"/>
          <p:nvPr/>
        </p:nvSpPr>
        <p:spPr>
          <a:xfrm>
            <a:off x="960120" y="4114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データ・プロトコル (Data &amp; Protocol)</a:t>
            </a:r>
            <a:endParaRPr/>
          </a:p>
        </p:txBody>
      </p:sp>
      <p:sp>
        <p:nvSpPr>
          <p:cNvPr id="143" name="Google Shape;143;p16"/>
          <p:cNvSpPr txBox="1"/>
          <p:nvPr/>
        </p:nvSpPr>
        <p:spPr>
          <a:xfrm>
            <a:off x="960120" y="4617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FR-03:</a:t>
            </a:r>
            <a:r>
              <a:rPr b="0" i="0" lang="en-US" sz="1100" u="none" cap="none" strike="noStrike">
                <a:solidFill>
                  <a:srgbClr val="323C46"/>
                </a:solidFill>
                <a:latin typeface="Quattrocento Sans"/>
                <a:ea typeface="Quattrocento Sans"/>
                <a:cs typeface="Quattrocento Sans"/>
                <a:sym typeface="Quattrocento Sans"/>
              </a:rPr>
              <a:t> すべての作業状態、成果物をDB(正本)に一元記録</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FR-04:</a:t>
            </a:r>
            <a:r>
              <a:rPr b="0" i="0" lang="en-US" sz="1100" u="none" cap="none" strike="noStrike">
                <a:solidFill>
                  <a:srgbClr val="323C46"/>
                </a:solidFill>
                <a:latin typeface="Quattrocento Sans"/>
                <a:ea typeface="Quattrocento Sans"/>
                <a:cs typeface="Quattrocento Sans"/>
                <a:sym typeface="Quattrocento Sans"/>
              </a:rPr>
              <a:t> .codexパス探索とJSONL形式イベントログのパージ・マスキング</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FR-11:</a:t>
            </a:r>
            <a:r>
              <a:rPr b="0" i="0" lang="en-US" sz="1100" u="none" cap="none" strike="noStrike">
                <a:solidFill>
                  <a:srgbClr val="323C46"/>
                </a:solidFill>
                <a:latin typeface="Quattrocento Sans"/>
                <a:ea typeface="Quattrocento Sans"/>
                <a:cs typeface="Quattrocento Sans"/>
                <a:sym typeface="Quattrocento Sans"/>
              </a:rPr>
              <a:t> System MCPを介した安全かつ追跡可能なタスク委任ツール</a:t>
            </a:r>
            <a:endParaRPr/>
          </a:p>
        </p:txBody>
      </p:sp>
      <p:sp>
        <p:nvSpPr>
          <p:cNvPr id="144" name="Google Shape;144;p16"/>
          <p:cNvSpPr/>
          <p:nvPr/>
        </p:nvSpPr>
        <p:spPr>
          <a:xfrm>
            <a:off x="6217920" y="3931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5" name="Google Shape;145;p16"/>
          <p:cNvSpPr/>
          <p:nvPr/>
        </p:nvSpPr>
        <p:spPr>
          <a:xfrm>
            <a:off x="6217920" y="3931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6" name="Google Shape;146;p16"/>
          <p:cNvSpPr txBox="1"/>
          <p:nvPr/>
        </p:nvSpPr>
        <p:spPr>
          <a:xfrm>
            <a:off x="6446520" y="4114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技術スタック (Tech Stack)</a:t>
            </a:r>
            <a:endParaRPr/>
          </a:p>
        </p:txBody>
      </p:sp>
      <p:sp>
        <p:nvSpPr>
          <p:cNvPr id="147" name="Google Shape;147;p16"/>
          <p:cNvSpPr txBox="1"/>
          <p:nvPr/>
        </p:nvSpPr>
        <p:spPr>
          <a:xfrm>
            <a:off x="6446520" y="4617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FR-05:</a:t>
            </a:r>
            <a:r>
              <a:rPr b="0" i="0" lang="en-US" sz="1100" u="none" cap="none" strike="noStrike">
                <a:solidFill>
                  <a:srgbClr val="323C46"/>
                </a:solidFill>
                <a:latin typeface="Quattrocento Sans"/>
                <a:ea typeface="Quattrocento Sans"/>
                <a:cs typeface="Quattrocento Sans"/>
                <a:sym typeface="Quattrocento Sans"/>
              </a:rPr>
              <a:t> TypeScript厳格モード(Strict)およびZodスキーマ検証</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FR-10:</a:t>
            </a:r>
            <a:r>
              <a:rPr b="0" i="0" lang="en-US" sz="1100" u="none" cap="none" strike="noStrike">
                <a:solidFill>
                  <a:srgbClr val="323C46"/>
                </a:solidFill>
                <a:latin typeface="Quattrocento Sans"/>
                <a:ea typeface="Quattrocento Sans"/>
                <a:cs typeface="Quattrocento Sans"/>
                <a:sym typeface="Quattrocento Sans"/>
              </a:rPr>
              <a:t> `gpt-6.1-sol`などのAIモデルおよび動作境界での無断変更防止</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FR-12:</a:t>
            </a:r>
            <a:r>
              <a:rPr b="0" i="0" lang="en-US" sz="1100" u="none" cap="none" strike="noStrike">
                <a:solidFill>
                  <a:srgbClr val="323C46"/>
                </a:solidFill>
                <a:latin typeface="Quattrocento Sans"/>
                <a:ea typeface="Quattrocento Sans"/>
                <a:cs typeface="Quattrocento Sans"/>
                <a:sym typeface="Quattrocento Sans"/>
              </a:rPr>
              <a:t> ユーティリティCSSベースのSB Admin 2クローンUI(Bootstrapレス)</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51" name="Shape 151"/>
        <p:cNvGrpSpPr/>
        <p:nvPr/>
      </p:nvGrpSpPr>
      <p:grpSpPr>
        <a:xfrm>
          <a:off x="0" y="0"/>
          <a:ext cx="0" cy="0"/>
          <a:chOff x="0" y="0"/>
          <a:chExt cx="0" cy="0"/>
        </a:xfrm>
      </p:grpSpPr>
      <p:sp>
        <p:nvSpPr>
          <p:cNvPr id="152" name="Google Shape;152;p17"/>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153" name="Google Shape;153;p17"/>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非同期実行および復旧（Fault Tolerance）戦略</a:t>
            </a:r>
            <a:endParaRPr/>
          </a:p>
        </p:txBody>
      </p:sp>
      <p:sp>
        <p:nvSpPr>
          <p:cNvPr id="154" name="Google Shape;154;p17"/>
          <p:cNvSpPr/>
          <p:nvPr/>
        </p:nvSpPr>
        <p:spPr>
          <a:xfrm>
            <a:off x="731520" y="1645920"/>
            <a:ext cx="51206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7"/>
          <p:cNvSpPr/>
          <p:nvPr/>
        </p:nvSpPr>
        <p:spPr>
          <a:xfrm>
            <a:off x="731520" y="1645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6" name="Google Shape;156;p17"/>
          <p:cNvSpPr txBox="1"/>
          <p:nvPr/>
        </p:nvSpPr>
        <p:spPr>
          <a:xfrm>
            <a:off x="960120" y="1828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プロセス隔離によるライフサイクル維持</a:t>
            </a:r>
            <a:endParaRPr/>
          </a:p>
        </p:txBody>
      </p:sp>
      <p:sp>
        <p:nvSpPr>
          <p:cNvPr id="157" name="Google Shape;157;p17"/>
          <p:cNvSpPr txBox="1"/>
          <p:nvPr/>
        </p:nvSpPr>
        <p:spPr>
          <a:xfrm>
            <a:off x="960120" y="2331720"/>
            <a:ext cx="46634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プロセス分離:</a:t>
            </a:r>
            <a:r>
              <a:rPr b="0" i="0" lang="en-US" sz="1300" u="none" cap="none" strike="noStrike">
                <a:solidFill>
                  <a:srgbClr val="323C46"/>
                </a:solidFill>
                <a:latin typeface="Quattrocento Sans"/>
                <a:ea typeface="Quattrocento Sans"/>
                <a:cs typeface="Quattrocento Sans"/>
                <a:sym typeface="Quattrocento Sans"/>
              </a:rPr>
              <a:t> HTTPリクエスト接続やMCPサーバーの生存期間と、実際のタスク実行プロセスを分離。</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バックグラウンド実行:</a:t>
            </a:r>
            <a:r>
              <a:rPr b="0" i="0" lang="en-US" sz="1300" u="none" cap="none" strike="noStrike">
                <a:solidFill>
                  <a:srgbClr val="323C46"/>
                </a:solidFill>
                <a:latin typeface="Quattrocento Sans"/>
                <a:ea typeface="Quattrocento Sans"/>
                <a:cs typeface="Quattrocento Sans"/>
                <a:sym typeface="Quattrocento Sans"/>
              </a:rPr>
              <a:t> Webブラウザが閉じられても、バックグラウンドのRunnerが実行ストリーム(stdout/stderr)をDBに書き込み続ける。</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重複防止:</a:t>
            </a:r>
            <a:r>
              <a:rPr b="0" i="0" lang="en-US" sz="1300" u="none" cap="none" strike="noStrike">
                <a:solidFill>
                  <a:srgbClr val="323C46"/>
                </a:solidFill>
                <a:latin typeface="Quattrocento Sans"/>
                <a:ea typeface="Quattrocento Sans"/>
                <a:cs typeface="Quattrocento Sans"/>
                <a:sym typeface="Quattrocento Sans"/>
              </a:rPr>
              <a:t> 重複実行を防ぐフェンシングトークン(Fencing Token)と10秒周期のハートビート監視。</a:t>
            </a:r>
            <a:endParaRPr/>
          </a:p>
        </p:txBody>
      </p:sp>
      <p:sp>
        <p:nvSpPr>
          <p:cNvPr id="158" name="Google Shape;158;p17"/>
          <p:cNvSpPr/>
          <p:nvPr/>
        </p:nvSpPr>
        <p:spPr>
          <a:xfrm>
            <a:off x="6217920" y="1645920"/>
            <a:ext cx="51206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7"/>
          <p:cNvSpPr/>
          <p:nvPr/>
        </p:nvSpPr>
        <p:spPr>
          <a:xfrm>
            <a:off x="6217920" y="1645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7"/>
          <p:cNvSpPr txBox="1"/>
          <p:nvPr/>
        </p:nvSpPr>
        <p:spPr>
          <a:xfrm>
            <a:off x="6446520" y="1828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60秒クールダウン＆自動再開の仕組み</a:t>
            </a:r>
            <a:endParaRPr/>
          </a:p>
        </p:txBody>
      </p:sp>
      <p:sp>
        <p:nvSpPr>
          <p:cNvPr id="161" name="Google Shape;161;p17"/>
          <p:cNvSpPr txBox="1"/>
          <p:nvPr/>
        </p:nvSpPr>
        <p:spPr>
          <a:xfrm>
            <a:off x="6446520" y="2331720"/>
            <a:ext cx="46634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状態維持:</a:t>
            </a:r>
            <a:r>
              <a:rPr b="0" i="0" lang="en-US" sz="1300" u="none" cap="none" strike="noStrike">
                <a:solidFill>
                  <a:srgbClr val="323C46"/>
                </a:solidFill>
                <a:latin typeface="Quattrocento Sans"/>
                <a:ea typeface="Quattrocento Sans"/>
                <a:cs typeface="Quattrocento Sans"/>
                <a:sym typeface="Quattrocento Sans"/>
              </a:rPr>
              <a:t> API制限等で強制終了された際、未完了のチェックポイントを維持。</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再開資格:</a:t>
            </a:r>
            <a:r>
              <a:rPr b="0" i="0" lang="en-US" sz="1300" u="none" cap="none" strike="noStrike">
                <a:solidFill>
                  <a:srgbClr val="323C46"/>
                </a:solidFill>
                <a:latin typeface="Quattrocento Sans"/>
                <a:ea typeface="Quattrocento Sans"/>
                <a:cs typeface="Quattrocento Sans"/>
                <a:sym typeface="Quattrocento Sans"/>
              </a:rPr>
              <a:t> データベースに「次回の実行資格日時」を `next_eligible_at &gt;= now + 60s` として記録。</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安全な継続:</a:t>
            </a:r>
            <a:r>
              <a:rPr b="0" i="0" lang="en-US" sz="1300" u="none" cap="none" strike="noStrike">
                <a:solidFill>
                  <a:srgbClr val="323C46"/>
                </a:solidFill>
                <a:latin typeface="Quattrocento Sans"/>
                <a:ea typeface="Quattrocento Sans"/>
                <a:cs typeface="Quattrocento Sans"/>
                <a:sym typeface="Quattrocento Sans"/>
              </a:rPr>
              <a:t> 古いプロセスID(PID)のクリーンアップ完了後、`codex exec resume &lt;ID&gt;` により安全に作業を継続。</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無限ループ防止:</a:t>
            </a:r>
            <a:r>
              <a:rPr b="0" i="0" lang="en-US" sz="1300" u="none" cap="none" strike="noStrike">
                <a:solidFill>
                  <a:srgbClr val="323C46"/>
                </a:solidFill>
                <a:latin typeface="Quattrocento Sans"/>
                <a:ea typeface="Quattrocento Sans"/>
                <a:cs typeface="Quattrocento Sans"/>
                <a:sym typeface="Quattrocento Sans"/>
              </a:rPr>
              <a:t> 最大3回までの再試行制限(Circuit Breaker)を適用。</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65" name="Shape 165"/>
        <p:cNvGrpSpPr/>
        <p:nvPr/>
      </p:nvGrpSpPr>
      <p:grpSpPr>
        <a:xfrm>
          <a:off x="0" y="0"/>
          <a:ext cx="0" cy="0"/>
          <a:chOff x="0" y="0"/>
          <a:chExt cx="0" cy="0"/>
        </a:xfrm>
      </p:grpSpPr>
      <p:sp>
        <p:nvSpPr>
          <p:cNvPr id="166" name="Google Shape;166;p18"/>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167" name="Google Shape;167;p18"/>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組織構成とHandoff（引継ぎ）モデル</a:t>
            </a:r>
            <a:endParaRPr/>
          </a:p>
        </p:txBody>
      </p:sp>
      <p:sp>
        <p:nvSpPr>
          <p:cNvPr id="168" name="Google Shape;168;p18"/>
          <p:cNvSpPr/>
          <p:nvPr/>
        </p:nvSpPr>
        <p:spPr>
          <a:xfrm>
            <a:off x="7315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9" name="Google Shape;169;p18"/>
          <p:cNvSpPr/>
          <p:nvPr/>
        </p:nvSpPr>
        <p:spPr>
          <a:xfrm>
            <a:off x="7315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0" name="Google Shape;170;p18"/>
          <p:cNvSpPr txBox="1"/>
          <p:nvPr/>
        </p:nvSpPr>
        <p:spPr>
          <a:xfrm>
            <a:off x="9601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権限と責務の階層化</a:t>
            </a:r>
            <a:endParaRPr/>
          </a:p>
        </p:txBody>
      </p:sp>
      <p:sp>
        <p:nvSpPr>
          <p:cNvPr id="171" name="Google Shape;171;p18"/>
          <p:cNvSpPr txBox="1"/>
          <p:nvPr/>
        </p:nvSpPr>
        <p:spPr>
          <a:xfrm>
            <a:off x="9601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人間管理者:</a:t>
            </a:r>
            <a:r>
              <a:rPr b="0" i="0" lang="en-US" sz="1300" u="none" cap="none" strike="noStrike">
                <a:solidFill>
                  <a:srgbClr val="323C46"/>
                </a:solidFill>
                <a:latin typeface="Quattrocento Sans"/>
                <a:ea typeface="Quattrocento Sans"/>
                <a:cs typeface="Quattrocento Sans"/>
                <a:sym typeface="Quattrocento Sans"/>
              </a:rPr>
              <a:t> 最終承認権限、組織改編、AIスキルセットポリシーの設定。</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管理AI (Manager):</a:t>
            </a:r>
            <a:r>
              <a:rPr b="0" i="0" lang="en-US" sz="1300" u="none" cap="none" strike="noStrike">
                <a:solidFill>
                  <a:srgbClr val="323C46"/>
                </a:solidFill>
                <a:latin typeface="Quattrocento Sans"/>
                <a:ea typeface="Quattrocento Sans"/>
                <a:cs typeface="Quattrocento Sans"/>
                <a:sym typeface="Quattrocento Sans"/>
              </a:rPr>
              <a:t> スケジュールに基づき自動起動し、タスクをブレイクダウンして適切な下位AIに委任。</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作業AI (Worker):</a:t>
            </a:r>
            <a:r>
              <a:rPr b="0" i="0" lang="en-US" sz="1300" u="none" cap="none" strike="noStrike">
                <a:solidFill>
                  <a:srgbClr val="323C46"/>
                </a:solidFill>
                <a:latin typeface="Quattrocento Sans"/>
                <a:ea typeface="Quattrocento Sans"/>
                <a:cs typeface="Quattrocento Sans"/>
                <a:sym typeface="Quattrocento Sans"/>
              </a:rPr>
              <a:t> 割り当てられた専門業務(調査、開発、コード検証等)を実行し、結果を提出。</a:t>
            </a:r>
            <a:endParaRPr/>
          </a:p>
        </p:txBody>
      </p:sp>
      <p:sp>
        <p:nvSpPr>
          <p:cNvPr id="172" name="Google Shape;172;p18"/>
          <p:cNvSpPr/>
          <p:nvPr/>
        </p:nvSpPr>
        <p:spPr>
          <a:xfrm>
            <a:off x="43891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3" name="Google Shape;173;p18"/>
          <p:cNvSpPr/>
          <p:nvPr/>
        </p:nvSpPr>
        <p:spPr>
          <a:xfrm>
            <a:off x="43891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4" name="Google Shape;174;p18"/>
          <p:cNvSpPr txBox="1"/>
          <p:nvPr/>
        </p:nvSpPr>
        <p:spPr>
          <a:xfrm>
            <a:off x="46177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Handoff ライフサイクル</a:t>
            </a:r>
            <a:endParaRPr/>
          </a:p>
        </p:txBody>
      </p:sp>
      <p:sp>
        <p:nvSpPr>
          <p:cNvPr id="175" name="Google Shape;175;p18"/>
          <p:cNvSpPr txBox="1"/>
          <p:nvPr/>
        </p:nvSpPr>
        <p:spPr>
          <a:xfrm>
            <a:off x="46177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状態遷移:</a:t>
            </a:r>
            <a:r>
              <a:rPr b="0" i="0" lang="en-US" sz="1300" u="none" cap="none" strike="noStrike">
                <a:solidFill>
                  <a:srgbClr val="323C46"/>
                </a:solidFill>
                <a:latin typeface="Quattrocento Sans"/>
                <a:ea typeface="Quattrocento Sans"/>
                <a:cs typeface="Quattrocento Sans"/>
                <a:sym typeface="Quattrocento Sans"/>
              </a:rPr>
              <a:t> `Prepared` (計画作成) ➔ `Offered` (作業AIのInboxに配送) ➔ `Accepted` (作業AIの受領と着手) ➔ `Completed` (成果物確認・承認)</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オーナーシップ:</a:t>
            </a:r>
            <a:r>
              <a:rPr b="0" i="0" lang="en-US" sz="1300" u="none" cap="none" strike="noStrike">
                <a:solidFill>
                  <a:srgbClr val="323C46"/>
                </a:solidFill>
                <a:latin typeface="Quattrocento Sans"/>
                <a:ea typeface="Quattrocento Sans"/>
                <a:cs typeface="Quattrocento Sans"/>
                <a:sym typeface="Quattrocento Sans"/>
              </a:rPr>
              <a:t> 引継ぎ完了まで送信元がタスクのオーナーシップを維持し、伝達ロスを撲滅。</a:t>
            </a:r>
            <a:endParaRPr/>
          </a:p>
        </p:txBody>
      </p:sp>
      <p:sp>
        <p:nvSpPr>
          <p:cNvPr id="176" name="Google Shape;176;p18"/>
          <p:cNvSpPr/>
          <p:nvPr/>
        </p:nvSpPr>
        <p:spPr>
          <a:xfrm>
            <a:off x="80467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7" name="Google Shape;177;p18"/>
          <p:cNvSpPr/>
          <p:nvPr/>
        </p:nvSpPr>
        <p:spPr>
          <a:xfrm>
            <a:off x="80467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78" name="Google Shape;178;p18"/>
          <p:cNvSpPr txBox="1"/>
          <p:nvPr/>
        </p:nvSpPr>
        <p:spPr>
          <a:xfrm>
            <a:off x="82753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独立した1on1面談</a:t>
            </a:r>
            <a:endParaRPr/>
          </a:p>
        </p:txBody>
      </p:sp>
      <p:sp>
        <p:nvSpPr>
          <p:cNvPr id="179" name="Google Shape;179;p18"/>
          <p:cNvSpPr txBox="1"/>
          <p:nvPr/>
        </p:nvSpPr>
        <p:spPr>
          <a:xfrm>
            <a:off x="82753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プロセス隔離:</a:t>
            </a:r>
            <a:r>
              <a:rPr b="0" i="0" lang="en-US" sz="1300" u="none" cap="none" strike="noStrike">
                <a:solidFill>
                  <a:srgbClr val="323C46"/>
                </a:solidFill>
                <a:latin typeface="Quattrocento Sans"/>
                <a:ea typeface="Quattrocento Sans"/>
                <a:cs typeface="Quattrocento Sans"/>
                <a:sym typeface="Quattrocento Sans"/>
              </a:rPr>
              <a:t> 日常タスク実行プロセスとは完全に隔離。会話中の意図しない決定が、即時本番コード変更などのタスクに誤作動することを防止。</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タスク格上げ:</a:t>
            </a:r>
            <a:r>
              <a:rPr b="0" i="0" lang="en-US" sz="1300" u="none" cap="none" strike="noStrike">
                <a:solidFill>
                  <a:srgbClr val="323C46"/>
                </a:solidFill>
                <a:latin typeface="Quattrocento Sans"/>
                <a:ea typeface="Quattrocento Sans"/>
                <a:cs typeface="Quattrocento Sans"/>
                <a:sym typeface="Quattrocento Sans"/>
              </a:rPr>
              <a:t> 1on1で決定したアクションアイテムは、人間管理者の手動承認を経て初めて公式な `Task` に格上げ。</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83" name="Shape 183"/>
        <p:cNvGrpSpPr/>
        <p:nvPr/>
      </p:nvGrpSpPr>
      <p:grpSpPr>
        <a:xfrm>
          <a:off x="0" y="0"/>
          <a:ext cx="0" cy="0"/>
          <a:chOff x="0" y="0"/>
          <a:chExt cx="0" cy="0"/>
        </a:xfrm>
      </p:grpSpPr>
      <p:sp>
        <p:nvSpPr>
          <p:cNvPr id="184" name="Google Shape;184;p19"/>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185" name="Google Shape;185;p19"/>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マスタースケジュール (12週間ロードマップ)</a:t>
            </a:r>
            <a:endParaRPr/>
          </a:p>
        </p:txBody>
      </p:sp>
      <p:sp>
        <p:nvSpPr>
          <p:cNvPr id="186" name="Google Shape;186;p19"/>
          <p:cNvSpPr/>
          <p:nvPr/>
        </p:nvSpPr>
        <p:spPr>
          <a:xfrm>
            <a:off x="731520" y="1645920"/>
            <a:ext cx="246888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7" name="Google Shape;187;p19"/>
          <p:cNvSpPr/>
          <p:nvPr/>
        </p:nvSpPr>
        <p:spPr>
          <a:xfrm>
            <a:off x="731520" y="1645920"/>
            <a:ext cx="2468880" cy="731520"/>
          </a:xfrm>
          <a:prstGeom prst="rect">
            <a:avLst/>
          </a:prstGeom>
          <a:solidFill>
            <a:srgbClr val="0F1C2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8" name="Google Shape;188;p19"/>
          <p:cNvSpPr txBox="1"/>
          <p:nvPr/>
        </p:nvSpPr>
        <p:spPr>
          <a:xfrm>
            <a:off x="731520" y="1737360"/>
            <a:ext cx="246888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Phase 0: 技術検証</a:t>
            </a:r>
            <a:br>
              <a:rPr b="1" i="0" lang="en-US" sz="1200" u="none" cap="none" strike="noStrike">
                <a:solidFill>
                  <a:srgbClr val="FFFFFF"/>
                </a:solidFill>
                <a:latin typeface="Quattrocento Sans"/>
                <a:ea typeface="Quattrocento Sans"/>
                <a:cs typeface="Quattrocento Sans"/>
                <a:sym typeface="Quattrocento Sans"/>
              </a:rPr>
            </a:br>
            <a:r>
              <a:rPr b="1" i="0" lang="en-US" sz="1200" u="none" cap="none" strike="noStrike">
                <a:solidFill>
                  <a:srgbClr val="FFFFFF"/>
                </a:solidFill>
                <a:latin typeface="Quattrocento Sans"/>
                <a:ea typeface="Quattrocento Sans"/>
                <a:cs typeface="Quattrocento Sans"/>
                <a:sym typeface="Quattrocento Sans"/>
              </a:rPr>
              <a:t>[W01 - W02]</a:t>
            </a:r>
            <a:endParaRPr/>
          </a:p>
        </p:txBody>
      </p:sp>
      <p:sp>
        <p:nvSpPr>
          <p:cNvPr id="189" name="Google Shape;189;p19"/>
          <p:cNvSpPr txBox="1"/>
          <p:nvPr/>
        </p:nvSpPr>
        <p:spPr>
          <a:xfrm>
            <a:off x="868680" y="2468880"/>
            <a:ext cx="2194560" cy="34747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CLI検証:</a:t>
            </a:r>
            <a:r>
              <a:rPr b="0" i="0" lang="en-US" sz="1100" u="none" cap="none" strike="noStrike">
                <a:solidFill>
                  <a:srgbClr val="323C46"/>
                </a:solidFill>
                <a:latin typeface="Quattrocento Sans"/>
                <a:ea typeface="Quattrocento Sans"/>
                <a:cs typeface="Quattrocento Sans"/>
                <a:sym typeface="Quattrocento Sans"/>
              </a:rPr>
              <a:t> Codex CLI (0.147.0+) の非同期spawn検証</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ログパージ:</a:t>
            </a:r>
            <a:r>
              <a:rPr b="0" i="0" lang="en-US" sz="1100" u="none" cap="none" strike="noStrike">
                <a:solidFill>
                  <a:srgbClr val="323C46"/>
                </a:solidFill>
                <a:latin typeface="Quattrocento Sans"/>
                <a:ea typeface="Quattrocento Sans"/>
                <a:cs typeface="Quattrocento Sans"/>
                <a:sym typeface="Quattrocento Sans"/>
              </a:rPr>
              <a:t> セッションresumeおよびJSONLパージ動作の実測</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プロトタイプ:</a:t>
            </a:r>
            <a:r>
              <a:rPr b="0" i="0" lang="en-US" sz="1100" u="none" cap="none" strike="noStrike">
                <a:solidFill>
                  <a:srgbClr val="323C46"/>
                </a:solidFill>
                <a:latin typeface="Quattrocento Sans"/>
                <a:ea typeface="Quattrocento Sans"/>
                <a:cs typeface="Quattrocento Sans"/>
                <a:sym typeface="Quattrocento Sans"/>
              </a:rPr>
              <a:t> 60秒クールダウン設計のプロトタイプ評価</a:t>
            </a:r>
            <a:endParaRPr/>
          </a:p>
        </p:txBody>
      </p:sp>
      <p:sp>
        <p:nvSpPr>
          <p:cNvPr id="190" name="Google Shape;190;p19"/>
          <p:cNvSpPr/>
          <p:nvPr/>
        </p:nvSpPr>
        <p:spPr>
          <a:xfrm>
            <a:off x="3474720" y="1645920"/>
            <a:ext cx="246888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9"/>
          <p:cNvSpPr/>
          <p:nvPr/>
        </p:nvSpPr>
        <p:spPr>
          <a:xfrm>
            <a:off x="3474720" y="1645920"/>
            <a:ext cx="2468880" cy="731520"/>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9"/>
          <p:cNvSpPr txBox="1"/>
          <p:nvPr/>
        </p:nvSpPr>
        <p:spPr>
          <a:xfrm>
            <a:off x="3474720" y="1737360"/>
            <a:ext cx="246888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Phase 1: 基盤構築</a:t>
            </a:r>
            <a:br>
              <a:rPr b="1" i="0" lang="en-US" sz="1200" u="none" cap="none" strike="noStrike">
                <a:solidFill>
                  <a:srgbClr val="FFFFFF"/>
                </a:solidFill>
                <a:latin typeface="Quattrocento Sans"/>
                <a:ea typeface="Quattrocento Sans"/>
                <a:cs typeface="Quattrocento Sans"/>
                <a:sym typeface="Quattrocento Sans"/>
              </a:rPr>
            </a:br>
            <a:r>
              <a:rPr b="1" i="0" lang="en-US" sz="1200" u="none" cap="none" strike="noStrike">
                <a:solidFill>
                  <a:srgbClr val="FFFFFF"/>
                </a:solidFill>
                <a:latin typeface="Quattrocento Sans"/>
                <a:ea typeface="Quattrocento Sans"/>
                <a:cs typeface="Quattrocento Sans"/>
                <a:sym typeface="Quattrocento Sans"/>
              </a:rPr>
              <a:t>[W03 - W06]</a:t>
            </a:r>
            <a:endParaRPr/>
          </a:p>
        </p:txBody>
      </p:sp>
      <p:sp>
        <p:nvSpPr>
          <p:cNvPr id="193" name="Google Shape;193;p19"/>
          <p:cNvSpPr txBox="1"/>
          <p:nvPr/>
        </p:nvSpPr>
        <p:spPr>
          <a:xfrm>
            <a:off x="3611880" y="2468880"/>
            <a:ext cx="2194560" cy="34747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DB設計:</a:t>
            </a:r>
            <a:r>
              <a:rPr b="0" i="0" lang="en-US" sz="1100" u="none" cap="none" strike="noStrike">
                <a:solidFill>
                  <a:srgbClr val="323C46"/>
                </a:solidFill>
                <a:latin typeface="Quattrocento Sans"/>
                <a:ea typeface="Quattrocento Sans"/>
                <a:cs typeface="Quattrocento Sans"/>
                <a:sym typeface="Quattrocento Sans"/>
              </a:rPr>
              <a:t> SQLite DBスキーマ決定および厳密なZod定義の記述</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UI実装:</a:t>
            </a:r>
            <a:r>
              <a:rPr b="0" i="0" lang="en-US" sz="1100" u="none" cap="none" strike="noStrike">
                <a:solidFill>
                  <a:srgbClr val="323C46"/>
                </a:solidFill>
                <a:latin typeface="Quattrocento Sans"/>
                <a:ea typeface="Quattrocento Sans"/>
                <a:cs typeface="Quattrocento Sans"/>
                <a:sym typeface="Quattrocento Sans"/>
              </a:rPr>
              <a:t> SB Admin 2 スタイルのWeb UIコンポーネント実装</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画面開発:</a:t>
            </a:r>
            <a:r>
              <a:rPr b="0" i="0" lang="en-US" sz="1100" u="none" cap="none" strike="noStrike">
                <a:solidFill>
                  <a:srgbClr val="323C46"/>
                </a:solidFill>
                <a:latin typeface="Quattrocento Sans"/>
                <a:ea typeface="Quattrocento Sans"/>
                <a:cs typeface="Quattrocento Sans"/>
                <a:sym typeface="Quattrocento Sans"/>
              </a:rPr>
              <a:t> 組織図、AI社員一覧、セッション履歴画面の開発</a:t>
            </a:r>
            <a:endParaRPr/>
          </a:p>
        </p:txBody>
      </p:sp>
      <p:sp>
        <p:nvSpPr>
          <p:cNvPr id="194" name="Google Shape;194;p19"/>
          <p:cNvSpPr/>
          <p:nvPr/>
        </p:nvSpPr>
        <p:spPr>
          <a:xfrm>
            <a:off x="6217920" y="1645920"/>
            <a:ext cx="246888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5" name="Google Shape;195;p19"/>
          <p:cNvSpPr/>
          <p:nvPr/>
        </p:nvSpPr>
        <p:spPr>
          <a:xfrm>
            <a:off x="6217920" y="1645920"/>
            <a:ext cx="2468880" cy="731520"/>
          </a:xfrm>
          <a:prstGeom prst="rect">
            <a:avLst/>
          </a:prstGeom>
          <a:solidFill>
            <a:srgbClr val="0F1C2E"/>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6" name="Google Shape;196;p19"/>
          <p:cNvSpPr txBox="1"/>
          <p:nvPr/>
        </p:nvSpPr>
        <p:spPr>
          <a:xfrm>
            <a:off x="6217920" y="1737360"/>
            <a:ext cx="246888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Phase 2: 自律委任</a:t>
            </a:r>
            <a:br>
              <a:rPr b="1" i="0" lang="en-US" sz="1200" u="none" cap="none" strike="noStrike">
                <a:solidFill>
                  <a:srgbClr val="FFFFFF"/>
                </a:solidFill>
                <a:latin typeface="Quattrocento Sans"/>
                <a:ea typeface="Quattrocento Sans"/>
                <a:cs typeface="Quattrocento Sans"/>
                <a:sym typeface="Quattrocento Sans"/>
              </a:rPr>
            </a:br>
            <a:r>
              <a:rPr b="1" i="0" lang="en-US" sz="1200" u="none" cap="none" strike="noStrike">
                <a:solidFill>
                  <a:srgbClr val="FFFFFF"/>
                </a:solidFill>
                <a:latin typeface="Quattrocento Sans"/>
                <a:ea typeface="Quattrocento Sans"/>
                <a:cs typeface="Quattrocento Sans"/>
                <a:sym typeface="Quattrocento Sans"/>
              </a:rPr>
              <a:t>[W07 - W10]</a:t>
            </a:r>
            <a:endParaRPr/>
          </a:p>
        </p:txBody>
      </p:sp>
      <p:sp>
        <p:nvSpPr>
          <p:cNvPr id="197" name="Google Shape;197;p19"/>
          <p:cNvSpPr txBox="1"/>
          <p:nvPr/>
        </p:nvSpPr>
        <p:spPr>
          <a:xfrm>
            <a:off x="6355080" y="2468880"/>
            <a:ext cx="2194560" cy="34747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Cron統合:</a:t>
            </a:r>
            <a:r>
              <a:rPr b="0" i="0" lang="en-US" sz="1100" u="none" cap="none" strike="noStrike">
                <a:solidFill>
                  <a:srgbClr val="323C46"/>
                </a:solidFill>
                <a:latin typeface="Quattrocento Sans"/>
                <a:ea typeface="Quattrocento Sans"/>
                <a:cs typeface="Quattrocento Sans"/>
                <a:sym typeface="Quattrocento Sans"/>
              </a:rPr>
              <a:t> 定期実行Cronスケジューラとの統合</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MCP実装:</a:t>
            </a:r>
            <a:r>
              <a:rPr b="0" i="0" lang="en-US" sz="1100" u="none" cap="none" strike="noStrike">
                <a:solidFill>
                  <a:srgbClr val="323C46"/>
                </a:solidFill>
                <a:latin typeface="Quattrocento Sans"/>
                <a:ea typeface="Quattrocento Sans"/>
                <a:cs typeface="Quattrocento Sans"/>
                <a:sym typeface="Quattrocento Sans"/>
              </a:rPr>
              <a:t> 冪等性を備えたSystem MCP ServerおよびHandoffキューの実装</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エンジン統合:</a:t>
            </a:r>
            <a:r>
              <a:rPr b="0" i="0" lang="en-US" sz="1100" u="none" cap="none" strike="noStrike">
                <a:solidFill>
                  <a:srgbClr val="323C46"/>
                </a:solidFill>
                <a:latin typeface="Quattrocento Sans"/>
                <a:ea typeface="Quattrocento Sans"/>
                <a:cs typeface="Quattrocento Sans"/>
                <a:sym typeface="Quattrocento Sans"/>
              </a:rPr>
              <a:t> 1on1面談セッションおよびクールダウン自動再開エンジンの統合</a:t>
            </a:r>
            <a:endParaRPr/>
          </a:p>
        </p:txBody>
      </p:sp>
      <p:sp>
        <p:nvSpPr>
          <p:cNvPr id="198" name="Google Shape;198;p19"/>
          <p:cNvSpPr/>
          <p:nvPr/>
        </p:nvSpPr>
        <p:spPr>
          <a:xfrm>
            <a:off x="8961120" y="1645920"/>
            <a:ext cx="246888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9" name="Google Shape;199;p19"/>
          <p:cNvSpPr/>
          <p:nvPr/>
        </p:nvSpPr>
        <p:spPr>
          <a:xfrm>
            <a:off x="8961120" y="1645920"/>
            <a:ext cx="2468880" cy="731520"/>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0" name="Google Shape;200;p19"/>
          <p:cNvSpPr txBox="1"/>
          <p:nvPr/>
        </p:nvSpPr>
        <p:spPr>
          <a:xfrm>
            <a:off x="8961120" y="1737360"/>
            <a:ext cx="246888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200" u="none" cap="none" strike="noStrike">
                <a:solidFill>
                  <a:srgbClr val="FFFFFF"/>
                </a:solidFill>
                <a:latin typeface="Quattrocento Sans"/>
                <a:ea typeface="Quattrocento Sans"/>
                <a:cs typeface="Quattrocento Sans"/>
                <a:sym typeface="Quattrocento Sans"/>
              </a:rPr>
              <a:t>Phase 3: 総合テスト</a:t>
            </a:r>
            <a:br>
              <a:rPr b="1" i="0" lang="en-US" sz="1200" u="none" cap="none" strike="noStrike">
                <a:solidFill>
                  <a:srgbClr val="FFFFFF"/>
                </a:solidFill>
                <a:latin typeface="Quattrocento Sans"/>
                <a:ea typeface="Quattrocento Sans"/>
                <a:cs typeface="Quattrocento Sans"/>
                <a:sym typeface="Quattrocento Sans"/>
              </a:rPr>
            </a:br>
            <a:r>
              <a:rPr b="1" i="0" lang="en-US" sz="1200" u="none" cap="none" strike="noStrike">
                <a:solidFill>
                  <a:srgbClr val="FFFFFF"/>
                </a:solidFill>
                <a:latin typeface="Quattrocento Sans"/>
                <a:ea typeface="Quattrocento Sans"/>
                <a:cs typeface="Quattrocento Sans"/>
                <a:sym typeface="Quattrocento Sans"/>
              </a:rPr>
              <a:t>[W11 - W12]</a:t>
            </a:r>
            <a:endParaRPr/>
          </a:p>
        </p:txBody>
      </p:sp>
      <p:sp>
        <p:nvSpPr>
          <p:cNvPr id="201" name="Google Shape;201;p19"/>
          <p:cNvSpPr txBox="1"/>
          <p:nvPr/>
        </p:nvSpPr>
        <p:spPr>
          <a:xfrm>
            <a:off x="9098280" y="2468880"/>
            <a:ext cx="2194560" cy="34747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全件検証:</a:t>
            </a:r>
            <a:r>
              <a:rPr b="0" i="0" lang="en-US" sz="1100" u="none" cap="none" strike="noStrike">
                <a:solidFill>
                  <a:srgbClr val="323C46"/>
                </a:solidFill>
                <a:latin typeface="Quattrocento Sans"/>
                <a:ea typeface="Quattrocento Sans"/>
                <a:cs typeface="Quattrocento Sans"/>
                <a:sym typeface="Quattrocento Sans"/>
              </a:rPr>
              <a:t> 受入試験シナリオ(AT-01 ~ AT-22)の全件検証</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障害注入:</a:t>
            </a:r>
            <a:r>
              <a:rPr b="0" i="0" lang="en-US" sz="1100" u="none" cap="none" strike="noStrike">
                <a:solidFill>
                  <a:srgbClr val="323C46"/>
                </a:solidFill>
                <a:latin typeface="Quattrocento Sans"/>
                <a:ea typeface="Quattrocento Sans"/>
                <a:cs typeface="Quattrocento Sans"/>
                <a:sym typeface="Quattrocento Sans"/>
              </a:rPr>
              <a:t> 意図的なエラー・障害注入による復旧安定性の測定</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デプロイ:</a:t>
            </a:r>
            <a:r>
              <a:rPr b="0" i="0" lang="en-US" sz="1100" u="none" cap="none" strike="noStrike">
                <a:solidFill>
                  <a:srgbClr val="323C46"/>
                </a:solidFill>
                <a:latin typeface="Quattrocento Sans"/>
                <a:ea typeface="Quattrocento Sans"/>
                <a:cs typeface="Quattrocento Sans"/>
                <a:sym typeface="Quattrocento Sans"/>
              </a:rPr>
              <a:t> 本番デプロイパッケージ作成、運用マニュアルの完成</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05" name="Shape 205"/>
        <p:cNvGrpSpPr/>
        <p:nvPr/>
      </p:nvGrpSpPr>
      <p:grpSpPr>
        <a:xfrm>
          <a:off x="0" y="0"/>
          <a:ext cx="0" cy="0"/>
          <a:chOff x="0" y="0"/>
          <a:chExt cx="0" cy="0"/>
        </a:xfrm>
      </p:grpSpPr>
      <p:sp>
        <p:nvSpPr>
          <p:cNvPr id="206" name="Google Shape;206;p20"/>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207" name="Google Shape;207;p20"/>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段階別マイルストーンと成果物</a:t>
            </a:r>
            <a:endParaRPr/>
          </a:p>
        </p:txBody>
      </p:sp>
      <p:sp>
        <p:nvSpPr>
          <p:cNvPr id="208" name="Google Shape;208;p20"/>
          <p:cNvSpPr/>
          <p:nvPr/>
        </p:nvSpPr>
        <p:spPr>
          <a:xfrm>
            <a:off x="731520" y="1645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09" name="Google Shape;209;p20"/>
          <p:cNvSpPr/>
          <p:nvPr/>
        </p:nvSpPr>
        <p:spPr>
          <a:xfrm>
            <a:off x="731520" y="1645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0" name="Google Shape;210;p20"/>
          <p:cNvSpPr txBox="1"/>
          <p:nvPr/>
        </p:nvSpPr>
        <p:spPr>
          <a:xfrm>
            <a:off x="960120" y="1828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Milestone 1 (W02): Phase 0 完了</a:t>
            </a:r>
            <a:endParaRPr/>
          </a:p>
        </p:txBody>
      </p:sp>
      <p:sp>
        <p:nvSpPr>
          <p:cNvPr id="211" name="Google Shape;211;p20"/>
          <p:cNvSpPr txBox="1"/>
          <p:nvPr/>
        </p:nvSpPr>
        <p:spPr>
          <a:xfrm>
            <a:off x="960120" y="2331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成果物:</a:t>
            </a:r>
            <a:r>
              <a:rPr b="0" i="0" lang="en-US" sz="1100" u="none" cap="none" strike="noStrike">
                <a:solidFill>
                  <a:srgbClr val="323C46"/>
                </a:solidFill>
                <a:latin typeface="Quattrocento Sans"/>
                <a:ea typeface="Quattrocento Sans"/>
                <a:cs typeface="Quattrocento Sans"/>
                <a:sym typeface="Quattrocento Sans"/>
              </a:rPr>
              <a:t> CLI Spawnアダプタモジュール、PoC検証結果報告書</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判定基準:</a:t>
            </a:r>
            <a:r>
              <a:rPr b="0" i="0" lang="en-US" sz="1100" u="none" cap="none" strike="noStrike">
                <a:solidFill>
                  <a:srgbClr val="323C46"/>
                </a:solidFill>
                <a:latin typeface="Quattrocento Sans"/>
                <a:ea typeface="Quattrocento Sans"/>
                <a:cs typeface="Quattrocento Sans"/>
                <a:sym typeface="Quattrocento Sans"/>
              </a:rPr>
              <a:t> CLIのバックグラウンド実行およびログ取得の信頼性が証明されること。</a:t>
            </a:r>
            <a:endParaRPr/>
          </a:p>
        </p:txBody>
      </p:sp>
      <p:sp>
        <p:nvSpPr>
          <p:cNvPr id="212" name="Google Shape;212;p20"/>
          <p:cNvSpPr/>
          <p:nvPr/>
        </p:nvSpPr>
        <p:spPr>
          <a:xfrm>
            <a:off x="6217920" y="1645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3" name="Google Shape;213;p20"/>
          <p:cNvSpPr/>
          <p:nvPr/>
        </p:nvSpPr>
        <p:spPr>
          <a:xfrm>
            <a:off x="6217920" y="1645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20"/>
          <p:cNvSpPr txBox="1"/>
          <p:nvPr/>
        </p:nvSpPr>
        <p:spPr>
          <a:xfrm>
            <a:off x="6446520" y="1828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Milestone 2 (W06): Phase 1 完了</a:t>
            </a:r>
            <a:endParaRPr/>
          </a:p>
        </p:txBody>
      </p:sp>
      <p:sp>
        <p:nvSpPr>
          <p:cNvPr id="215" name="Google Shape;215;p20"/>
          <p:cNvSpPr txBox="1"/>
          <p:nvPr/>
        </p:nvSpPr>
        <p:spPr>
          <a:xfrm>
            <a:off x="6446520" y="2331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成果物:</a:t>
            </a:r>
            <a:r>
              <a:rPr b="0" i="0" lang="en-US" sz="1100" u="none" cap="none" strike="noStrike">
                <a:solidFill>
                  <a:srgbClr val="323C46"/>
                </a:solidFill>
                <a:latin typeface="Quattrocento Sans"/>
                <a:ea typeface="Quattrocento Sans"/>
                <a:cs typeface="Quattrocento Sans"/>
                <a:sym typeface="Quattrocento Sans"/>
              </a:rPr>
              <a:t> DBマイグレーションコード、ReactベースのWeb UI v1.0</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判定基準:</a:t>
            </a:r>
            <a:r>
              <a:rPr b="0" i="0" lang="en-US" sz="1100" u="none" cap="none" strike="noStrike">
                <a:solidFill>
                  <a:srgbClr val="323C46"/>
                </a:solidFill>
                <a:latin typeface="Quattrocento Sans"/>
                <a:ea typeface="Quattrocento Sans"/>
                <a:cs typeface="Quattrocento Sans"/>
                <a:sym typeface="Quattrocento Sans"/>
              </a:rPr>
              <a:t> 単一AI社員の登録、セッションデータの永続化、大画面ダッシュボードの表示が確認できること。</a:t>
            </a:r>
            <a:endParaRPr/>
          </a:p>
        </p:txBody>
      </p:sp>
      <p:sp>
        <p:nvSpPr>
          <p:cNvPr id="216" name="Google Shape;216;p20"/>
          <p:cNvSpPr/>
          <p:nvPr/>
        </p:nvSpPr>
        <p:spPr>
          <a:xfrm>
            <a:off x="731520" y="3931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20"/>
          <p:cNvSpPr/>
          <p:nvPr/>
        </p:nvSpPr>
        <p:spPr>
          <a:xfrm>
            <a:off x="731520" y="3931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20"/>
          <p:cNvSpPr txBox="1"/>
          <p:nvPr/>
        </p:nvSpPr>
        <p:spPr>
          <a:xfrm>
            <a:off x="960120" y="4114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Milestone 3 (W10): Phase 2 完了</a:t>
            </a:r>
            <a:endParaRPr/>
          </a:p>
        </p:txBody>
      </p:sp>
      <p:sp>
        <p:nvSpPr>
          <p:cNvPr id="219" name="Google Shape;219;p20"/>
          <p:cNvSpPr txBox="1"/>
          <p:nvPr/>
        </p:nvSpPr>
        <p:spPr>
          <a:xfrm>
            <a:off x="960120" y="4617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成果物:</a:t>
            </a:r>
            <a:r>
              <a:rPr b="0" i="0" lang="en-US" sz="1100" u="none" cap="none" strike="noStrike">
                <a:solidFill>
                  <a:srgbClr val="323C46"/>
                </a:solidFill>
                <a:latin typeface="Quattrocento Sans"/>
                <a:ea typeface="Quattrocento Sans"/>
                <a:cs typeface="Quattrocento Sans"/>
                <a:sym typeface="Quattrocento Sans"/>
              </a:rPr>
              <a:t> System MCPパッケージ、Cronコントローラ、1on1モジュール</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判定基準:</a:t>
            </a:r>
            <a:r>
              <a:rPr b="0" i="0" lang="en-US" sz="1100" u="none" cap="none" strike="noStrike">
                <a:solidFill>
                  <a:srgbClr val="323C46"/>
                </a:solidFill>
                <a:latin typeface="Quattrocento Sans"/>
                <a:ea typeface="Quattrocento Sans"/>
                <a:cs typeface="Quattrocento Sans"/>
                <a:sym typeface="Quattrocento Sans"/>
              </a:rPr>
              <a:t> 複数AI社員間での非同期タスク委任、自動クールダウン復旧が正常稼働すること。</a:t>
            </a:r>
            <a:endParaRPr/>
          </a:p>
        </p:txBody>
      </p:sp>
      <p:sp>
        <p:nvSpPr>
          <p:cNvPr id="220" name="Google Shape;220;p20"/>
          <p:cNvSpPr/>
          <p:nvPr/>
        </p:nvSpPr>
        <p:spPr>
          <a:xfrm>
            <a:off x="6217920" y="3931920"/>
            <a:ext cx="5120640" cy="2103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20"/>
          <p:cNvSpPr/>
          <p:nvPr/>
        </p:nvSpPr>
        <p:spPr>
          <a:xfrm>
            <a:off x="6217920" y="3931920"/>
            <a:ext cx="51206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2" name="Google Shape;222;p20"/>
          <p:cNvSpPr txBox="1"/>
          <p:nvPr/>
        </p:nvSpPr>
        <p:spPr>
          <a:xfrm>
            <a:off x="6446520" y="4114800"/>
            <a:ext cx="46634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Milestone 4 (W12): Phase 3 完了</a:t>
            </a:r>
            <a:endParaRPr/>
          </a:p>
        </p:txBody>
      </p:sp>
      <p:sp>
        <p:nvSpPr>
          <p:cNvPr id="223" name="Google Shape;223;p20"/>
          <p:cNvSpPr txBox="1"/>
          <p:nvPr/>
        </p:nvSpPr>
        <p:spPr>
          <a:xfrm>
            <a:off x="6446520" y="4617720"/>
            <a:ext cx="4663440" cy="1280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成果物:</a:t>
            </a:r>
            <a:r>
              <a:rPr b="0" i="0" lang="en-US" sz="1100" u="none" cap="none" strike="noStrike">
                <a:solidFill>
                  <a:srgbClr val="323C46"/>
                </a:solidFill>
                <a:latin typeface="Quattrocento Sans"/>
                <a:ea typeface="Quattrocento Sans"/>
                <a:cs typeface="Quattrocento Sans"/>
                <a:sym typeface="Quattrocento Sans"/>
              </a:rPr>
              <a:t> AT-01~22 テスト結果書、管理者向け運用手順書、リリースモジュール</a:t>
            </a:r>
            <a:endParaRPr/>
          </a:p>
          <a:p>
            <a:pPr indent="0" lvl="0" marL="0" marR="0" rtl="0" algn="l">
              <a:spcBef>
                <a:spcPts val="1400"/>
              </a:spcBef>
              <a:spcAft>
                <a:spcPts val="0"/>
              </a:spcAft>
              <a:buNone/>
            </a:pPr>
            <a:r>
              <a:rPr b="1" i="0" lang="en-US" sz="1100" u="none" cap="none" strike="noStrike">
                <a:solidFill>
                  <a:srgbClr val="0F1C2E"/>
                </a:solidFill>
                <a:latin typeface="Quattrocento Sans"/>
                <a:ea typeface="Quattrocento Sans"/>
                <a:cs typeface="Quattrocento Sans"/>
                <a:sym typeface="Quattrocento Sans"/>
              </a:rPr>
              <a:t>判定基準:</a:t>
            </a:r>
            <a:r>
              <a:rPr b="0" i="0" lang="en-US" sz="1100" u="none" cap="none" strike="noStrike">
                <a:solidFill>
                  <a:srgbClr val="323C46"/>
                </a:solidFill>
                <a:latin typeface="Quattrocento Sans"/>
                <a:ea typeface="Quattrocento Sans"/>
                <a:cs typeface="Quattrocento Sans"/>
                <a:sym typeface="Quattrocento Sans"/>
              </a:rPr>
              <a:t> 22件の受入シナリオが100%パスし、本番リリースが承認されること。</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27" name="Shape 227"/>
        <p:cNvGrpSpPr/>
        <p:nvPr/>
      </p:nvGrpSpPr>
      <p:grpSpPr>
        <a:xfrm>
          <a:off x="0" y="0"/>
          <a:ext cx="0" cy="0"/>
          <a:chOff x="0" y="0"/>
          <a:chExt cx="0" cy="0"/>
        </a:xfrm>
      </p:grpSpPr>
      <p:sp>
        <p:nvSpPr>
          <p:cNvPr id="228" name="Google Shape;228;p21"/>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AI EMPLOYEE PROJECT</a:t>
            </a:r>
            <a:endParaRPr/>
          </a:p>
        </p:txBody>
      </p:sp>
      <p:sp>
        <p:nvSpPr>
          <p:cNvPr id="229" name="Google Shape;229;p21"/>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0F1C2E"/>
                </a:solidFill>
                <a:latin typeface="Quattrocento Sans"/>
                <a:ea typeface="Quattrocento Sans"/>
                <a:cs typeface="Quattrocento Sans"/>
                <a:sym typeface="Quattrocento Sans"/>
              </a:rPr>
              <a:t>プロジェクト推進体制と役割分担</a:t>
            </a:r>
            <a:endParaRPr/>
          </a:p>
        </p:txBody>
      </p:sp>
      <p:sp>
        <p:nvSpPr>
          <p:cNvPr id="230" name="Google Shape;230;p21"/>
          <p:cNvSpPr/>
          <p:nvPr/>
        </p:nvSpPr>
        <p:spPr>
          <a:xfrm>
            <a:off x="7315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1" name="Google Shape;231;p21"/>
          <p:cNvSpPr/>
          <p:nvPr/>
        </p:nvSpPr>
        <p:spPr>
          <a:xfrm>
            <a:off x="7315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2" name="Google Shape;232;p21"/>
          <p:cNvSpPr txBox="1"/>
          <p:nvPr/>
        </p:nvSpPr>
        <p:spPr>
          <a:xfrm>
            <a:off x="897425" y="1828800"/>
            <a:ext cx="2973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システムバックエンド ＆ インフラ</a:t>
            </a:r>
            <a:endParaRPr/>
          </a:p>
        </p:txBody>
      </p:sp>
      <p:sp>
        <p:nvSpPr>
          <p:cNvPr id="233" name="Google Shape;233;p21"/>
          <p:cNvSpPr txBox="1"/>
          <p:nvPr/>
        </p:nvSpPr>
        <p:spPr>
          <a:xfrm>
            <a:off x="9601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コア実装:</a:t>
            </a:r>
            <a:r>
              <a:rPr b="0" i="0" lang="en-US" sz="1300" u="none" cap="none" strike="noStrike">
                <a:solidFill>
                  <a:srgbClr val="323C46"/>
                </a:solidFill>
                <a:latin typeface="Quattrocento Sans"/>
                <a:ea typeface="Quattrocento Sans"/>
                <a:cs typeface="Quattrocento Sans"/>
                <a:sym typeface="Quattrocento Sans"/>
              </a:rPr>
              <a:t> TypeScript厳格モードを用いたコアランナー(Runner)の実装</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DB管理:</a:t>
            </a:r>
            <a:r>
              <a:rPr b="0" i="0" lang="en-US" sz="1300" u="none" cap="none" strike="noStrike">
                <a:solidFill>
                  <a:srgbClr val="323C46"/>
                </a:solidFill>
                <a:latin typeface="Quattrocento Sans"/>
                <a:ea typeface="Quattrocento Sans"/>
                <a:cs typeface="Quattrocento Sans"/>
                <a:sym typeface="Quattrocento Sans"/>
              </a:rPr>
              <a:t> SQLiteデータベースのトランザクション管理およびスキーマ定義</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MCP設計:</a:t>
            </a:r>
            <a:r>
              <a:rPr b="0" i="0" lang="en-US" sz="1300" u="none" cap="none" strike="noStrike">
                <a:solidFill>
                  <a:srgbClr val="323C46"/>
                </a:solidFill>
                <a:latin typeface="Quattrocento Sans"/>
                <a:ea typeface="Quattrocento Sans"/>
                <a:cs typeface="Quattrocento Sans"/>
                <a:sym typeface="Quattrocento Sans"/>
              </a:rPr>
              <a:t> System MCP Server（task_delegateなどのAPI設計）の実装</a:t>
            </a:r>
            <a:endParaRPr/>
          </a:p>
        </p:txBody>
      </p:sp>
      <p:sp>
        <p:nvSpPr>
          <p:cNvPr id="234" name="Google Shape;234;p21"/>
          <p:cNvSpPr/>
          <p:nvPr/>
        </p:nvSpPr>
        <p:spPr>
          <a:xfrm>
            <a:off x="43891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5" name="Google Shape;235;p21"/>
          <p:cNvSpPr/>
          <p:nvPr/>
        </p:nvSpPr>
        <p:spPr>
          <a:xfrm>
            <a:off x="43891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6" name="Google Shape;236;p21"/>
          <p:cNvSpPr txBox="1"/>
          <p:nvPr/>
        </p:nvSpPr>
        <p:spPr>
          <a:xfrm>
            <a:off x="46177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フロントエンド ＆ UXデザイン</a:t>
            </a:r>
            <a:endParaRPr/>
          </a:p>
        </p:txBody>
      </p:sp>
      <p:sp>
        <p:nvSpPr>
          <p:cNvPr id="237" name="Google Shape;237;p21"/>
          <p:cNvSpPr txBox="1"/>
          <p:nvPr/>
        </p:nvSpPr>
        <p:spPr>
          <a:xfrm>
            <a:off x="46177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UI構築:</a:t>
            </a:r>
            <a:r>
              <a:rPr b="0" i="0" lang="en-US" sz="1300" u="none" cap="none" strike="noStrike">
                <a:solidFill>
                  <a:srgbClr val="323C46"/>
                </a:solidFill>
                <a:latin typeface="Quattrocento Sans"/>
                <a:ea typeface="Quattrocento Sans"/>
                <a:cs typeface="Quattrocento Sans"/>
                <a:sym typeface="Quattrocento Sans"/>
              </a:rPr>
              <a:t> Reactによるダッシュボードコンソール（SB Admin 2スタイル、CSS Modules仕様）の構築</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可視化:</a:t>
            </a:r>
            <a:r>
              <a:rPr b="0" i="0" lang="en-US" sz="1300" u="none" cap="none" strike="noStrike">
                <a:solidFill>
                  <a:srgbClr val="323C46"/>
                </a:solidFill>
                <a:latin typeface="Quattrocento Sans"/>
                <a:ea typeface="Quattrocento Sans"/>
                <a:cs typeface="Quattrocento Sans"/>
                <a:sym typeface="Quattrocento Sans"/>
              </a:rPr>
              <a:t> リアルタイム進捗を表示するSSE（Server-Sent Events）画面と、組織図ツリーの可視化</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状態表示:</a:t>
            </a:r>
            <a:r>
              <a:rPr b="0" i="0" lang="en-US" sz="1300" u="none" cap="none" strike="noStrike">
                <a:solidFill>
                  <a:srgbClr val="323C46"/>
                </a:solidFill>
                <a:latin typeface="Quattrocento Sans"/>
                <a:ea typeface="Quattrocento Sans"/>
                <a:cs typeface="Quattrocento Sans"/>
                <a:sym typeface="Quattrocento Sans"/>
              </a:rPr>
              <a:t> AI社員の状態（稼働/待機/クールダウン/エラー）を把握できる状態インジケータの実装</a:t>
            </a:r>
            <a:endParaRPr/>
          </a:p>
        </p:txBody>
      </p:sp>
      <p:sp>
        <p:nvSpPr>
          <p:cNvPr id="238" name="Google Shape;238;p21"/>
          <p:cNvSpPr/>
          <p:nvPr/>
        </p:nvSpPr>
        <p:spPr>
          <a:xfrm>
            <a:off x="8046720" y="1645920"/>
            <a:ext cx="3291840" cy="4389120"/>
          </a:xfrm>
          <a:prstGeom prst="roundRect">
            <a:avLst>
              <a:gd fmla="val 16667" name="adj"/>
            </a:avLst>
          </a:prstGeom>
          <a:solidFill>
            <a:srgbClr val="FFFFFF"/>
          </a:solidFill>
          <a:ln cap="flat" cmpd="sng" w="12700">
            <a:solidFill>
              <a:srgbClr val="E1E6EB"/>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39" name="Google Shape;239;p21"/>
          <p:cNvSpPr/>
          <p:nvPr/>
        </p:nvSpPr>
        <p:spPr>
          <a:xfrm>
            <a:off x="8046720" y="1645920"/>
            <a:ext cx="3291840" cy="73152"/>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0" name="Google Shape;240;p21"/>
          <p:cNvSpPr txBox="1"/>
          <p:nvPr/>
        </p:nvSpPr>
        <p:spPr>
          <a:xfrm>
            <a:off x="8275320" y="1828800"/>
            <a:ext cx="28346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F1C2E"/>
                </a:solidFill>
                <a:latin typeface="Quattrocento Sans"/>
                <a:ea typeface="Quattrocento Sans"/>
                <a:cs typeface="Quattrocento Sans"/>
                <a:sym typeface="Quattrocento Sans"/>
              </a:rPr>
              <a:t>QA ＆ ガバナンス・セキュリティ</a:t>
            </a:r>
            <a:endParaRPr/>
          </a:p>
        </p:txBody>
      </p:sp>
      <p:sp>
        <p:nvSpPr>
          <p:cNvPr id="241" name="Google Shape;241;p21"/>
          <p:cNvSpPr txBox="1"/>
          <p:nvPr/>
        </p:nvSpPr>
        <p:spPr>
          <a:xfrm>
            <a:off x="8275320" y="2331720"/>
            <a:ext cx="2834640" cy="35661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自動テスト:</a:t>
            </a:r>
            <a:r>
              <a:rPr b="0" i="0" lang="en-US" sz="1300" u="none" cap="none" strike="noStrike">
                <a:solidFill>
                  <a:srgbClr val="323C46"/>
                </a:solidFill>
                <a:latin typeface="Quattrocento Sans"/>
                <a:ea typeface="Quattrocento Sans"/>
                <a:cs typeface="Quattrocento Sans"/>
                <a:sym typeface="Quattrocento Sans"/>
              </a:rPr>
              <a:t> 22の受入基準（AT-01 ~ AT-22）に基づくエンドツーエンド自動テストの構築</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障害試験:</a:t>
            </a:r>
            <a:r>
              <a:rPr b="0" i="0" lang="en-US" sz="1300" u="none" cap="none" strike="noStrike">
                <a:solidFill>
                  <a:srgbClr val="323C46"/>
                </a:solidFill>
                <a:latin typeface="Quattrocento Sans"/>
                <a:ea typeface="Quattrocento Sans"/>
                <a:cs typeface="Quattrocento Sans"/>
                <a:sym typeface="Quattrocento Sans"/>
              </a:rPr>
              <a:t> プロセス中断試験、データ不整合および障害リカバリのシナリオ試験の実施</a:t>
            </a:r>
            <a:endParaRPr/>
          </a:p>
          <a:p>
            <a:pPr indent="0" lvl="0" marL="0" marR="0" rtl="0" algn="l">
              <a:spcBef>
                <a:spcPts val="1400"/>
              </a:spcBef>
              <a:spcAft>
                <a:spcPts val="0"/>
              </a:spcAft>
              <a:buNone/>
            </a:pPr>
            <a:r>
              <a:rPr b="1" i="0" lang="en-US" sz="1300" u="none" cap="none" strike="noStrike">
                <a:solidFill>
                  <a:srgbClr val="0F1C2E"/>
                </a:solidFill>
                <a:latin typeface="Quattrocento Sans"/>
                <a:ea typeface="Quattrocento Sans"/>
                <a:cs typeface="Quattrocento Sans"/>
                <a:sym typeface="Quattrocento Sans"/>
              </a:rPr>
              <a:t>セキュリティ:</a:t>
            </a:r>
            <a:r>
              <a:rPr b="0" i="0" lang="en-US" sz="1300" u="none" cap="none" strike="noStrike">
                <a:solidFill>
                  <a:srgbClr val="323C46"/>
                </a:solidFill>
                <a:latin typeface="Quattrocento Sans"/>
                <a:ea typeface="Quattrocento Sans"/>
                <a:cs typeface="Quattrocento Sans"/>
                <a:sym typeface="Quattrocento Sans"/>
              </a:rPr>
              <a:t> 実行履歴およびチャットログの機密情報フィルタリング(Masking)の検証</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C2E"/>
        </a:solidFill>
      </p:bgPr>
    </p:bg>
    <p:spTree>
      <p:nvGrpSpPr>
        <p:cNvPr id="245" name="Shape 245"/>
        <p:cNvGrpSpPr/>
        <p:nvPr/>
      </p:nvGrpSpPr>
      <p:grpSpPr>
        <a:xfrm>
          <a:off x="0" y="0"/>
          <a:ext cx="0" cy="0"/>
          <a:chOff x="0" y="0"/>
          <a:chExt cx="0" cy="0"/>
        </a:xfrm>
      </p:grpSpPr>
      <p:sp>
        <p:nvSpPr>
          <p:cNvPr id="246" name="Google Shape;246;p22"/>
          <p:cNvSpPr txBox="1"/>
          <p:nvPr/>
        </p:nvSpPr>
        <p:spPr>
          <a:xfrm>
            <a:off x="731520" y="365760"/>
            <a:ext cx="106984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000" u="none" cap="none" strike="noStrike">
                <a:solidFill>
                  <a:srgbClr val="0096A6"/>
                </a:solidFill>
                <a:latin typeface="Quattrocento Sans"/>
                <a:ea typeface="Quattrocento Sans"/>
                <a:cs typeface="Quattrocento Sans"/>
                <a:sym typeface="Quattrocento Sans"/>
              </a:rPr>
              <a:t>CONCLUSION &amp; NEXT STEPS</a:t>
            </a:r>
            <a:endParaRPr/>
          </a:p>
        </p:txBody>
      </p:sp>
      <p:sp>
        <p:nvSpPr>
          <p:cNvPr id="247" name="Google Shape;247;p22"/>
          <p:cNvSpPr txBox="1"/>
          <p:nvPr/>
        </p:nvSpPr>
        <p:spPr>
          <a:xfrm>
            <a:off x="731520" y="594360"/>
            <a:ext cx="10698480" cy="7315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400" u="none" cap="none" strike="noStrike">
                <a:solidFill>
                  <a:srgbClr val="FFFFFF"/>
                </a:solidFill>
                <a:latin typeface="Quattrocento Sans"/>
                <a:ea typeface="Quattrocento Sans"/>
                <a:cs typeface="Quattrocento Sans"/>
                <a:sym typeface="Quattrocento Sans"/>
              </a:rPr>
              <a:t>受入基準と即時実行タスク</a:t>
            </a:r>
            <a:endParaRPr/>
          </a:p>
        </p:txBody>
      </p:sp>
      <p:sp>
        <p:nvSpPr>
          <p:cNvPr id="248" name="Google Shape;248;p22"/>
          <p:cNvSpPr/>
          <p:nvPr/>
        </p:nvSpPr>
        <p:spPr>
          <a:xfrm>
            <a:off x="731520" y="1645920"/>
            <a:ext cx="73152" cy="4389120"/>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22"/>
          <p:cNvSpPr txBox="1"/>
          <p:nvPr/>
        </p:nvSpPr>
        <p:spPr>
          <a:xfrm>
            <a:off x="960120" y="1645920"/>
            <a:ext cx="48920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96A6"/>
                </a:solidFill>
                <a:latin typeface="Quattrocento Sans"/>
                <a:ea typeface="Quattrocento Sans"/>
                <a:cs typeface="Quattrocento Sans"/>
                <a:sym typeface="Quattrocento Sans"/>
              </a:rPr>
              <a:t>プロジェクトの成功基準 (Success Criteria)</a:t>
            </a:r>
            <a:endParaRPr/>
          </a:p>
        </p:txBody>
      </p:sp>
      <p:sp>
        <p:nvSpPr>
          <p:cNvPr id="250" name="Google Shape;250;p22"/>
          <p:cNvSpPr txBox="1"/>
          <p:nvPr/>
        </p:nvSpPr>
        <p:spPr>
          <a:xfrm>
            <a:off x="960120" y="2194560"/>
            <a:ext cx="4892040" cy="3840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096A6"/>
                </a:solidFill>
                <a:latin typeface="Quattrocento Sans"/>
                <a:ea typeface="Quattrocento Sans"/>
                <a:cs typeface="Quattrocento Sans"/>
                <a:sym typeface="Quattrocento Sans"/>
              </a:rPr>
              <a:t>非同期プロセスの完遂:</a:t>
            </a:r>
            <a:r>
              <a:rPr b="0" i="0" lang="en-US" sz="1300" u="none" cap="none" strike="noStrike">
                <a:solidFill>
                  <a:srgbClr val="FFFFFF"/>
                </a:solidFill>
                <a:latin typeface="Quattrocento Sans"/>
                <a:ea typeface="Quattrocento Sans"/>
                <a:cs typeface="Quattrocento Sans"/>
                <a:sym typeface="Quattrocento Sans"/>
              </a:rPr>
              <a:t> HTTP接続切断に関わらず、バックグラウンドでのタスク正常完了率100%</a:t>
            </a:r>
            <a:endParaRPr/>
          </a:p>
          <a:p>
            <a:pPr indent="0" lvl="0" marL="0" marR="0" rtl="0" algn="l">
              <a:spcBef>
                <a:spcPts val="1400"/>
              </a:spcBef>
              <a:spcAft>
                <a:spcPts val="0"/>
              </a:spcAft>
              <a:buNone/>
            </a:pPr>
            <a:r>
              <a:rPr b="1" i="0" lang="en-US" sz="1300" u="none" cap="none" strike="noStrike">
                <a:solidFill>
                  <a:srgbClr val="0096A6"/>
                </a:solidFill>
                <a:latin typeface="Quattrocento Sans"/>
                <a:ea typeface="Quattrocento Sans"/>
                <a:cs typeface="Quattrocento Sans"/>
                <a:sym typeface="Quattrocento Sans"/>
              </a:rPr>
              <a:t>安全な自動再開:</a:t>
            </a:r>
            <a:r>
              <a:rPr b="0" i="0" lang="en-US" sz="1300" u="none" cap="none" strike="noStrike">
                <a:solidFill>
                  <a:srgbClr val="FFFFFF"/>
                </a:solidFill>
                <a:latin typeface="Quattrocento Sans"/>
                <a:ea typeface="Quattrocento Sans"/>
                <a:cs typeface="Quattrocento Sans"/>
                <a:sym typeface="Quattrocento Sans"/>
              </a:rPr>
              <a:t> 強制中断を検知した際、60秒待機後にDBのCheckpointから正確にResumeされること</a:t>
            </a:r>
            <a:endParaRPr/>
          </a:p>
          <a:p>
            <a:pPr indent="0" lvl="0" marL="0" marR="0" rtl="0" algn="l">
              <a:spcBef>
                <a:spcPts val="1400"/>
              </a:spcBef>
              <a:spcAft>
                <a:spcPts val="0"/>
              </a:spcAft>
              <a:buNone/>
            </a:pPr>
            <a:r>
              <a:rPr b="1" i="0" lang="en-US" sz="1300" u="none" cap="none" strike="noStrike">
                <a:solidFill>
                  <a:srgbClr val="0096A6"/>
                </a:solidFill>
                <a:latin typeface="Quattrocento Sans"/>
                <a:ea typeface="Quattrocento Sans"/>
                <a:cs typeface="Quattrocento Sans"/>
                <a:sym typeface="Quattrocento Sans"/>
              </a:rPr>
              <a:t>追跡可能な引継ぎ:</a:t>
            </a:r>
            <a:r>
              <a:rPr b="0" i="0" lang="en-US" sz="1300" u="none" cap="none" strike="noStrike">
                <a:solidFill>
                  <a:srgbClr val="FFFFFF"/>
                </a:solidFill>
                <a:latin typeface="Quattrocento Sans"/>
                <a:ea typeface="Quattrocento Sans"/>
                <a:cs typeface="Quattrocento Sans"/>
                <a:sym typeface="Quattrocento Sans"/>
              </a:rPr>
              <a:t> Cronによる開始から子タスクへの分解、Handoffの状態遷移がすべて監査ログに記録されていること</a:t>
            </a:r>
            <a:endParaRPr/>
          </a:p>
        </p:txBody>
      </p:sp>
      <p:sp>
        <p:nvSpPr>
          <p:cNvPr id="251" name="Google Shape;251;p22"/>
          <p:cNvSpPr/>
          <p:nvPr/>
        </p:nvSpPr>
        <p:spPr>
          <a:xfrm>
            <a:off x="6217920" y="1645920"/>
            <a:ext cx="73152" cy="4389120"/>
          </a:xfrm>
          <a:prstGeom prst="rect">
            <a:avLst/>
          </a:prstGeom>
          <a:solidFill>
            <a:srgbClr val="0096A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22"/>
          <p:cNvSpPr txBox="1"/>
          <p:nvPr/>
        </p:nvSpPr>
        <p:spPr>
          <a:xfrm>
            <a:off x="6446520" y="1645920"/>
            <a:ext cx="489204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96A6"/>
                </a:solidFill>
                <a:latin typeface="Quattrocento Sans"/>
                <a:ea typeface="Quattrocento Sans"/>
                <a:cs typeface="Quattrocento Sans"/>
                <a:sym typeface="Quattrocento Sans"/>
              </a:rPr>
              <a:t>Sprint 1 (W01-W02) 即時着手タスク</a:t>
            </a:r>
            <a:endParaRPr/>
          </a:p>
        </p:txBody>
      </p:sp>
      <p:sp>
        <p:nvSpPr>
          <p:cNvPr id="253" name="Google Shape;253;p22"/>
          <p:cNvSpPr txBox="1"/>
          <p:nvPr/>
        </p:nvSpPr>
        <p:spPr>
          <a:xfrm>
            <a:off x="6446520" y="2194560"/>
            <a:ext cx="4892040" cy="3840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300" u="none" cap="none" strike="noStrike">
                <a:solidFill>
                  <a:srgbClr val="0096A6"/>
                </a:solidFill>
                <a:latin typeface="Quattrocento Sans"/>
                <a:ea typeface="Quattrocento Sans"/>
                <a:cs typeface="Quattrocento Sans"/>
                <a:sym typeface="Quattrocento Sans"/>
              </a:rPr>
              <a:t>1. 環境構築:</a:t>
            </a:r>
            <a:r>
              <a:rPr b="0" i="0" lang="en-US" sz="1300" u="none" cap="none" strike="noStrike">
                <a:solidFill>
                  <a:srgbClr val="FFFFFF"/>
                </a:solidFill>
                <a:latin typeface="Quattrocento Sans"/>
                <a:ea typeface="Quattrocento Sans"/>
                <a:cs typeface="Quattrocento Sans"/>
                <a:sym typeface="Quattrocento Sans"/>
              </a:rPr>
              <a:t> Node.js (strictly typed TypeScript) 開発環境およびリポジトリの初期化</a:t>
            </a:r>
            <a:endParaRPr/>
          </a:p>
          <a:p>
            <a:pPr indent="0" lvl="0" marL="0" marR="0" rtl="0" algn="l">
              <a:spcBef>
                <a:spcPts val="1400"/>
              </a:spcBef>
              <a:spcAft>
                <a:spcPts val="0"/>
              </a:spcAft>
              <a:buNone/>
            </a:pPr>
            <a:r>
              <a:rPr b="1" i="0" lang="en-US" sz="1300" u="none" cap="none" strike="noStrike">
                <a:solidFill>
                  <a:srgbClr val="0096A6"/>
                </a:solidFill>
                <a:latin typeface="Quattrocento Sans"/>
                <a:ea typeface="Quattrocento Sans"/>
                <a:cs typeface="Quattrocento Sans"/>
                <a:sym typeface="Quattrocento Sans"/>
              </a:rPr>
              <a:t>2. PoC作成:</a:t>
            </a:r>
            <a:r>
              <a:rPr b="0" i="0" lang="en-US" sz="1300" u="none" cap="none" strike="noStrike">
                <a:solidFill>
                  <a:srgbClr val="FFFFFF"/>
                </a:solidFill>
                <a:latin typeface="Quattrocento Sans"/>
                <a:ea typeface="Quattrocento Sans"/>
                <a:cs typeface="Quattrocento Sans"/>
                <a:sym typeface="Quattrocento Sans"/>
              </a:rPr>
              <a:t> Codex CLI (v0.147.0+) を呼び出す非同期spawnアダプタモジュールのPoCコード作成</a:t>
            </a:r>
            <a:endParaRPr/>
          </a:p>
          <a:p>
            <a:pPr indent="0" lvl="0" marL="0" marR="0" rtl="0" algn="l">
              <a:spcBef>
                <a:spcPts val="1400"/>
              </a:spcBef>
              <a:spcAft>
                <a:spcPts val="0"/>
              </a:spcAft>
              <a:buNone/>
            </a:pPr>
            <a:r>
              <a:rPr b="1" i="0" lang="en-US" sz="1300" u="none" cap="none" strike="noStrike">
                <a:solidFill>
                  <a:srgbClr val="0096A6"/>
                </a:solidFill>
                <a:latin typeface="Quattrocento Sans"/>
                <a:ea typeface="Quattrocento Sans"/>
                <a:cs typeface="Quattrocento Sans"/>
                <a:sym typeface="Quattrocento Sans"/>
              </a:rPr>
              <a:t>3. MCP設計:</a:t>
            </a:r>
            <a:r>
              <a:rPr b="0" i="0" lang="en-US" sz="1300" u="none" cap="none" strike="noStrike">
                <a:solidFill>
                  <a:srgbClr val="FFFFFF"/>
                </a:solidFill>
                <a:latin typeface="Quattrocento Sans"/>
                <a:ea typeface="Quattrocento Sans"/>
                <a:cs typeface="Quattrocento Sans"/>
                <a:sym typeface="Quattrocento Sans"/>
              </a:rPr>
              <a:t> System MCPの基本インターフェース（API定義、Zodスキーマ）のドラフト作成</a:t>
            </a:r>
            <a:endParaRPr/>
          </a:p>
          <a:p>
            <a:pPr indent="0" lvl="0" marL="0" marR="0" rtl="0" algn="l">
              <a:spcBef>
                <a:spcPts val="1400"/>
              </a:spcBef>
              <a:spcAft>
                <a:spcPts val="0"/>
              </a:spcAft>
              <a:buNone/>
            </a:pPr>
            <a:r>
              <a:rPr b="1" i="0" lang="en-US" sz="1300" u="none" cap="none" strike="noStrike">
                <a:solidFill>
                  <a:srgbClr val="0096A6"/>
                </a:solidFill>
                <a:latin typeface="Quattrocento Sans"/>
                <a:ea typeface="Quattrocento Sans"/>
                <a:cs typeface="Quattrocento Sans"/>
                <a:sym typeface="Quattrocento Sans"/>
              </a:rPr>
              <a:t>4. UI設計:</a:t>
            </a:r>
            <a:r>
              <a:rPr b="0" i="0" lang="en-US" sz="1300" u="none" cap="none" strike="noStrike">
                <a:solidFill>
                  <a:srgbClr val="FFFFFF"/>
                </a:solidFill>
                <a:latin typeface="Quattrocento Sans"/>
                <a:ea typeface="Quattrocento Sans"/>
                <a:cs typeface="Quattrocento Sans"/>
                <a:sym typeface="Quattrocento Sans"/>
              </a:rPr>
              <a:t> Web UIコンソールのSB Admin 2レイアウトおよび基本CSSトークンの設計開始</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