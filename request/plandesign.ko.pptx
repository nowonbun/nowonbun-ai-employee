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embeddedFontLst>
    <p:embeddedFont>
      <p:font typeface="Quattrocento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QuattrocentoSans-bold.fntdata"/><Relationship Id="rId16" Type="http://schemas.openxmlformats.org/officeDocument/2006/relationships/font" Target="fonts/Quattrocento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boldItalic.fntdata"/><Relationship Id="rId6" Type="http://schemas.openxmlformats.org/officeDocument/2006/relationships/slide" Target="slides/slide1.xml"/><Relationship Id="rId18" Type="http://schemas.openxmlformats.org/officeDocument/2006/relationships/font" Target="fonts/Quattrocento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31520" y="1828800"/>
            <a:ext cx="137160" cy="3200400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직원 시스템 구축 프로젝트 착수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조직·직무 세션을 갖춘 지속형 AI 직원 관리 플랫폼 구축과 전체 일정</a:t>
            </a:r>
            <a:endParaRPr/>
          </a:p>
          <a:p>
            <a:pPr indent="0" lvl="0" marL="0" marR="0" rtl="0" algn="l">
              <a:spcBef>
                <a:spcPts val="4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B9C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날짜: 2026-10-06 | 버전: Ver 1.0 | 기술 사양: CLI·MCP 기반 기업용 시스템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직원 프로젝트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프로젝트 개요와 비전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731520" y="1645920"/>
            <a:ext cx="32918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960120" y="18288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현재의 문제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0120" y="2331720"/>
            <a:ext cx="28346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일회성 챗봇의 한계: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세션 종료 시 문맥이 사라짐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작업 추적 부족: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배정된 업무의 실행 이력과 상태를 추적할 수 없음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중복 실행 위험: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API 시간 초과나 연결 끊김 시 작업이 부정확하게 재실행될 위험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4389120" y="1645920"/>
            <a:ext cx="32918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617720" y="18288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시스템의 핵심 가치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17720" y="2331720"/>
            <a:ext cx="28346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조직도 기반 접근: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계층에 따른 직무 부여와 직속 상사 AI 지정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DB 기준 원본 상태 관리: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모든 작업·체크포인트·산출물을 DB에서 추적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Codex 세션 식별: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세션 식별자로 대화를 이어가도록 설계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8046720" y="1645920"/>
            <a:ext cx="32918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275320" y="18288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기대 효과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275320" y="2331720"/>
            <a:ext cx="28346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생산성 향상: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조사·개발·검증 자동 위임으로 개발 생산성 약 3배 향상 목표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높은 완료율: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대기 후 자동 복구로 장기 작업 완료율 99% 달성 목표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직원 프로젝트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시스템 아키텍처와 처리 흐름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731520" y="1645920"/>
            <a:ext cx="5120640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731520" y="1645920"/>
            <a:ext cx="73152" cy="9875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914400" y="1737360"/>
            <a:ext cx="4846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화면 계층(Web UI)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React·TypeScript, SB Admin 2 기반(비 Bootstrap) 관리 화면.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731520" y="2743200"/>
            <a:ext cx="5120640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731520" y="2743200"/>
            <a:ext cx="73152" cy="9875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914400" y="2834640"/>
            <a:ext cx="4846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인터페이스 계층(System MCP)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멱등성 키를 보장하는 관리 AI와 작업 AI 간 비동기 작업 위임 인터페이스.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731520" y="3840480"/>
            <a:ext cx="5120640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731520" y="3840480"/>
            <a:ext cx="73152" cy="9875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914400" y="3931920"/>
            <a:ext cx="4846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실행 계층(Scheduler·Runner)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Node.js spawn()을 이용한 백그라운드 CLI 프로세스의 수명주기 관리.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731520" y="4937760"/>
            <a:ext cx="5120640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731520" y="4937760"/>
            <a:ext cx="73152" cy="9875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914400" y="5029200"/>
            <a:ext cx="4846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저장 계층(DB)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SQLite에 작업·체크포인트·감사 로그·세션 정보를 저장.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446520" y="18288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종단 간(E2E) 실행 흐름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446520" y="2331720"/>
            <a:ext cx="47548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실행 신호 감지: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cron 또는 관리 화면의 실행 신호 수신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DB 스냅샷 수집: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실행 전 상태 저장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계획 수립: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관리 AI가 작업을 분해·배정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비동기 실행: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하위 프로세스(Runner) 시작 및 실행 감시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산출물 검증: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실행 결과 검증 후 DB에 확정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 보고: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관리 AI에 최종 상태 보고 및 세션 갱신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직원 프로젝트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요구사항 매트릭스(FR-01~FR-12)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731520" y="1645920"/>
            <a:ext cx="5120640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960120" y="1828800"/>
            <a:ext cx="4663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자동화·</a:t>
            </a:r>
            <a:r>
              <a:rPr b="1" lang="en-US" sz="1500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비동기</a:t>
            </a: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(자동화·비동기)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60120" y="2331720"/>
            <a:ext cx="4663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FR-01: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Asia/Seoul 기준 정기 cron 실행 및 중복 방지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FR-06: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child_process.spawn()을 이용한 독립 CLI 실행 프로세스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FR-07: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토큰 제한에 따른 강제 종료 등에서 60초 대기 후 자동 재개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6217920" y="1645920"/>
            <a:ext cx="5120640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6446520" y="182880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조직·직무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446520" y="2331720"/>
            <a:ext cx="4663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FR-02: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버전 관리된 스킬 목록으로 무단 도구 실행 차단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FR-08: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조직도 관리 및 인사이동 시 작업 인수인계 강제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FR-09: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사용자와 AI 간 별도 1:1 면담 세션 및 승인 후 작업 등록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731520" y="3931920"/>
            <a:ext cx="5120640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31520" y="3931920"/>
            <a:ext cx="51206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960120" y="411480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데이터·프로토콜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60120" y="4617720"/>
            <a:ext cx="4663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FR-03: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모든 작업 상태와 산출물을 기준 DB에 통합 기록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FR-04: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.codex 경로 탐색과 JSONL 이벤트 로그의 파싱·민감정보 가림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FR-11: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System MCP를 통한 안전하고 추적 가능한 작업 위임 도구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6217920" y="3931920"/>
            <a:ext cx="5120640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217920" y="3931920"/>
            <a:ext cx="51206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6446520" y="411480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기술 스택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446520" y="4617720"/>
            <a:ext cx="4663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FR-05: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TypeScript 엄격 모드와 Zod 스키마 검증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FR-10: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`gpt-6.1-sol` 등 AI 모델 및 실행 경계에서의 무단 변경 방지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FR-12: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유틸리티 CSS 기반 SB Admin 2 스타일 UI(Bootstrap 미사용)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직원 프로젝트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비동기 실행 및 장애 복구 전략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프로세스 분리로 실행 수명주기 유지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60120" y="2331720"/>
            <a:ext cx="46634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프로세스 분리: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HTTP 요청·MCP 서버의 연결 기간과 실제 작업 실행 프로세스를 분리.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백그라운드 실행: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브라우저를 닫아도 Runner가 실행 스트림(stdout/stderr)을 DB에 계속 기록.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중복 방지: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중복 실행 방지용 펜싱 토큰과 10초 주기 하트비트 감시.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6217920" y="164592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446520" y="182880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60초 대기 및 자동 재개 방식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446520" y="2331720"/>
            <a:ext cx="46634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상태 유지: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API 제한 등으로 강제 종료되면 미완료 체크포인트 유지.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재개 조건: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DB에 다음 실행 가능 시각을 `next_eligible_at &gt;= now + 60s`로 기록.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안전한 계속 실행: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이전 프로세스 ID(PID)를 정리한 뒤 `codex exec resume &lt;ID&gt;`로 작업을 이어감.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무한 반복 방지: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최대 3회 재시도 제한 적용.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직원 프로젝트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조직 구성과 인수인계 모델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731520" y="1645920"/>
            <a:ext cx="32918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960120" y="18288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권한과 책임의 계층화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60120" y="2331720"/>
            <a:ext cx="28346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사용자 관리자: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최종 승인, 조직 개편, AI 스킬 정책 설정.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관리 AI(Manager):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일정에 따라 실행되어 작업을 분해하고 적절한 하위 AI에 위임.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작업 AI(Worker):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배정된 전문 업무(조사·개발·코드 검증 등)를 실행하고 결과 제출.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4389120" y="1645920"/>
            <a:ext cx="32918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4617720" y="18288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인수인계 수명주기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617720" y="2331720"/>
            <a:ext cx="28346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상태 전이: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`Prepared`(계획 작성) ➔ `Offered`(작업 AI에게 전달) ➔ `Accepted`(작업 AI가 수락·착수) ➔ `Completed`(산출물 확인·승인)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책임 주체: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인수인계 완료 전까지 발신자가 작업 책임을 유지해 전달 누락 방지.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8046720" y="1645920"/>
            <a:ext cx="32918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8275320" y="18288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별도 1:1 면담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275320" y="2331720"/>
            <a:ext cx="28346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프로세스 분리: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일상 작업 실행과 완전히 분리해 대화 중 결정이 운영 코드 변경으로 잘못 이어지지 않도록 함.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작업으로 승격: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면담의 행동 항목은 사용자 관리자 승인 후에만 공식 `Task`로 승격.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직원 프로젝트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전체 일정(12주 로드맵)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731520" y="1645920"/>
            <a:ext cx="246888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731520" y="1645920"/>
            <a:ext cx="2468880" cy="731520"/>
          </a:xfrm>
          <a:prstGeom prst="rect">
            <a:avLst/>
          </a:prstGeom>
          <a:solidFill>
            <a:srgbClr val="0F1C2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731520" y="17373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단계 0: 기술 검증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[W01 - W02]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68680" y="2468880"/>
            <a:ext cx="21945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 검증: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Codex CLI(0.147.0+)의 비동기 spawn 검증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로그 파싱: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세션 resume 및 JSONL 파싱 동작 실측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프로토타입: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60초 재개 대기 설계의 프로토타입 평가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3474720" y="1645920"/>
            <a:ext cx="246888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3474720" y="1645920"/>
            <a:ext cx="2468880" cy="731520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3474720" y="17373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단계 1: 기반 구축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[W03 - W06]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3611880" y="2468880"/>
            <a:ext cx="21945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DB 설계: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SQLite DB 스키마 확정 및 엄격한 Zod 정의 작성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UI 구현: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SB Admin 2 스타일 웹 UI 구성요소 구현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화면 개발: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조직도, AI 직원 목록, 세션 이력 화면 개발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6217920" y="1645920"/>
            <a:ext cx="246888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6217920" y="1645920"/>
            <a:ext cx="2468880" cy="731520"/>
          </a:xfrm>
          <a:prstGeom prst="rect">
            <a:avLst/>
          </a:prstGeom>
          <a:solidFill>
            <a:srgbClr val="0F1C2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6217920" y="17373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단계 2: 자율 위임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[W07 - W10]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355080" y="2468880"/>
            <a:ext cx="21945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cron 통합: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정기 실행 cron 스케줄러와 통합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MCP 구현: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멱등성을 갖춘 System MCP Server와 인수인계 대기열 구현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실행 엔진 통합: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1:1 면담 세션과 대기 후 자동 재개 엔진 통합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8961120" y="1645920"/>
            <a:ext cx="246888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8961120" y="1645920"/>
            <a:ext cx="2468880" cy="731520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8961120" y="17373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단계 3: 종합 시험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[W11 - W12]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098280" y="2468880"/>
            <a:ext cx="21945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전체 검증: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인수 시험 시나리오(AT-01~AT-22) 전체 검증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장애 주입: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의도적 오류·장애 주입으로 복구 안정성 측정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배포: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운영 배포 패키지 작성 및 운영 설명서 완성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직원 프로젝트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단계별 이정표와 산출물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731520" y="1645920"/>
            <a:ext cx="5120640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이정표 1(W02): 단계 0 완료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960120" y="2331720"/>
            <a:ext cx="4663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산출물: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CLI Spawn 어댑터 모듈, PoC 검증 결과 보고서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판정 기준: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CLI 백그라운드 실행과 로그 수집의 신뢰성이 입증될 것.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6217920" y="1645920"/>
            <a:ext cx="5120640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446520" y="182880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이정표 2(W06): 단계 1 완료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446520" y="2331720"/>
            <a:ext cx="4663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산출물: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DB 마이그레이션 코드, React 기반 Web UI v1.0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판정 기준: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단일 AI 직원 등록, 세션 데이터 영속화, 대형 화면 대시보드 표시가 확인될 것.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731520" y="3931920"/>
            <a:ext cx="5120640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731520" y="3931920"/>
            <a:ext cx="51206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960120" y="411480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이정표 3(W10): 단계 2 완료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960120" y="4617720"/>
            <a:ext cx="4663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산출물: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System MCP 패키지, cron 컨트롤러, 1:1 면담 모듈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판정 기준: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여러 AI 직원 간 비동기 작업 위임과 대기 후 자동 복구가 정상 작동할 것.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6217920" y="3931920"/>
            <a:ext cx="5120640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6217920" y="3931920"/>
            <a:ext cx="51206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6446520" y="411480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이정표 4(W12): 단계 3 완료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446520" y="4617720"/>
            <a:ext cx="4663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산출물: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AT-01~22 시험 결과서, 관리자 운영 절차서, 출시 모듈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판정 기준:</a:t>
            </a:r>
            <a:r>
              <a:rPr b="0" i="0" lang="en-US" sz="11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인수 시나리오 22건이 모두 통과하고 운영 출시가 승인될 것.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직원 프로젝트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프로젝트 추진 체계와 역할 분담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731520" y="1645920"/>
            <a:ext cx="32918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897425" y="1828800"/>
            <a:ext cx="2973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시스템 백엔드·인프라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960120" y="2331720"/>
            <a:ext cx="28346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핵심 구현: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TypeScript 엄격 모드로 핵심 Runner 구현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DB 관리: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SQLite DB의 트랜잭션 관리 및 스키마 정의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MCP 설계: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System MCP Server(task_delegate 등 API 설계) 구현</a:t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4389120" y="1645920"/>
            <a:ext cx="32918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617720" y="18288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프런트엔드·UX 디자인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4617720" y="2331720"/>
            <a:ext cx="28346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UI 구축: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React 대시보드 화면(SB Admin 2 스타일, CSS Modules 사양) 구축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시각화: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실시간 진척도를 보여 주는 SSE 화면과 조직도 트리 시각화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상태 표시: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AI 직원 상태(실행/대기/재개 대기/오류)를 보여 주는 상태 표시기 구현</a:t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8046720" y="1645920"/>
            <a:ext cx="329184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6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8275320" y="18288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QA·거버넌스·보안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8275320" y="2331720"/>
            <a:ext cx="28346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자동 시험: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인수 기준 22개(AT-01~AT-22)에 따른 종단 간 자동 시험 구축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장애 시험: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프로세스 중단·데이터 불일치·장애 복구 시나리오 시험 수행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보안:</a:t>
            </a:r>
            <a:r>
              <a:rPr b="0" i="0" lang="en-US" sz="1300" u="none" cap="none" strike="noStrike">
                <a:solidFill>
                  <a:srgbClr val="323C4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실행 이력과 채팅 로그의 민감정보 가림 검증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C2E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결론과 다음 단계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인수 기준과 즉시 실행할 작업</a:t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731520" y="1645920"/>
            <a:ext cx="73152" cy="4389120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960120" y="164592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프로젝트 성공 기준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960120" y="2194560"/>
            <a:ext cx="48920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비동기 프로세스 완료: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HTTP 연결이 끊겨도 백그라운드 작업 정상 완료율 100% 목표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안전한 자동 재개: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강제 중단 감지 후 60초 대기하고 DB 체크포인트에서 정확히 재개될 것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추적 가능한 인수인계: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cron 실행부터 하위 작업 분해·인수인계 상태 전이까지 모두 감사 로그에 기록될 것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6217920" y="1645920"/>
            <a:ext cx="73152" cy="4389120"/>
          </a:xfrm>
          <a:prstGeom prst="rect">
            <a:avLst/>
          </a:prstGeom>
          <a:solidFill>
            <a:srgbClr val="0096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6446520" y="164592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스프린트 1(W01-W02) 즉시 착수 작업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6446520" y="2194560"/>
            <a:ext cx="48920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환경 구축: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Node.js(엄격한 TypeScript) 개발 환경과 저장소 초기화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PoC 작성: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Codex CLI(v0.147.0+)를 호출하는 비동기 spawn 어댑터의 PoC 코드 작성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MCP 설계: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System MCP 기본 인터페이스(API 정의·Zod 스키마) 초안 작성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96A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UI 설계:</a:t>
            </a: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Web UI의 SB Admin 2 레이아웃과 기본 CSS 토큰 설계 시작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